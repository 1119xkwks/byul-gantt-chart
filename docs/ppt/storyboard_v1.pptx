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4" r:id="rId4"/>
    <p:sldId id="258" r:id="rId5"/>
    <p:sldId id="259" r:id="rId6"/>
    <p:sldId id="260" r:id="rId7"/>
    <p:sldId id="261" r:id="rId8"/>
    <p:sldId id="262" r:id="rId9"/>
    <p:sldId id="263" r:id="rId10"/>
    <p:sldId id="265" r:id="rId11"/>
    <p:sldId id="266" r:id="rId12"/>
    <p:sldId id="272" r:id="rId13"/>
    <p:sldId id="273" r:id="rId14"/>
    <p:sldId id="267" r:id="rId15"/>
    <p:sldId id="274" r:id="rId1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83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B36056E-89BF-4D41-9389-D839837DC2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082B4FB-C1D5-8921-1A58-993CD04029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6A47AA6-5C22-5149-F005-DF7B44D3B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219B13-DD88-4CD8-B96A-5BA2F503C9E6}" type="datetimeFigureOut">
              <a:rPr lang="ko-KR" altLang="en-US" smtClean="0"/>
              <a:t>2026-01-31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A0214CC-388F-DB8D-61C7-134F3E3348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7CE5CFB-15A6-CF8E-8F83-7A4C906204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14F7FD-9BB8-4088-B0C1-67CA31D2984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92187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387FE9-C4AF-BE45-1AAB-724D5CAC8E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ED2AD63-346E-33DE-6C50-A7035F32F5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08E0EC5-4D2F-BF5A-F334-1C16A3F033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219B13-DD88-4CD8-B96A-5BA2F503C9E6}" type="datetimeFigureOut">
              <a:rPr lang="ko-KR" altLang="en-US" smtClean="0"/>
              <a:t>2026-01-31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45DD503-8FFC-6EA8-9BEE-B426646297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0A74887-13DA-A65A-04AD-0CBB73009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14F7FD-9BB8-4088-B0C1-67CA31D2984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433999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546810-D37E-D985-6F98-58CAF7B188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D335175-E2B4-4ABF-5B8B-560D260511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5CF32A3-3D43-CDA6-9221-D134F83A9A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219B13-DD88-4CD8-B96A-5BA2F503C9E6}" type="datetimeFigureOut">
              <a:rPr lang="ko-KR" altLang="en-US" smtClean="0"/>
              <a:t>2026-01-31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D825622-8707-A6CF-7B36-68529C2415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211063F-1A67-C41C-D43E-4E3A61C386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14F7FD-9BB8-4088-B0C1-67CA31D2984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14082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88E78E0-18C3-A16F-D382-88570FCA1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7C9D80A-0C63-158B-B991-20F4E00D9BE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07C25C2-0B43-828E-4F67-E4D80A744A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456B16F-2B7F-7EF6-0665-04EB8238E4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219B13-DD88-4CD8-B96A-5BA2F503C9E6}" type="datetimeFigureOut">
              <a:rPr lang="ko-KR" altLang="en-US" smtClean="0"/>
              <a:t>2026-01-31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42F5A44-EAB7-088B-AA4C-7FDDF1911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EAA4C47-3C09-E2AF-2CC3-55921D14FB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14F7FD-9BB8-4088-B0C1-67CA31D2984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948147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F76644-4CEC-9BA9-7628-06406AF981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B1177D5-7205-A944-EDBA-36F4084989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BCC797A-C6F8-4969-76CC-94D249D438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72681F59-DE04-ECC7-18B3-3018801432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DD6B6D5-049F-B481-7DA0-4A142056819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D0C42B05-1052-AACF-C298-B42E7F9685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219B13-DD88-4CD8-B96A-5BA2F503C9E6}" type="datetimeFigureOut">
              <a:rPr lang="ko-KR" altLang="en-US" smtClean="0"/>
              <a:t>2026-01-31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85054CB0-02C6-DBCF-F6DF-76E72B413E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6C343FC-DA03-B54C-7462-9B16A278A7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14F7FD-9BB8-4088-B0C1-67CA31D2984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86980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C265DA-2CA4-961D-BCEC-1612CE8A19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178D5F0-8F02-C06B-C179-9C623CF404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219B13-DD88-4CD8-B96A-5BA2F503C9E6}" type="datetimeFigureOut">
              <a:rPr lang="ko-KR" altLang="en-US" smtClean="0"/>
              <a:t>2026-01-31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2BF13FC-931A-3BD5-4338-A9DAA863BD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AB076CD-3C77-1D97-57E6-DE0208BA49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14F7FD-9BB8-4088-B0C1-67CA31D2984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584839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8E7A810-83BE-0240-1DB0-10DD9D1EA9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219B13-DD88-4CD8-B96A-5BA2F503C9E6}" type="datetimeFigureOut">
              <a:rPr lang="ko-KR" altLang="en-US" smtClean="0"/>
              <a:t>2026-01-31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25D8524C-3D5F-30CB-C6FB-468A868966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1C31C3E-DA5C-9B6F-4676-3DD9BA158F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14F7FD-9BB8-4088-B0C1-67CA31D2984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863849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9F4539-1BAF-F6B7-1D09-CAA53FC759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9D81FDB-E9AC-1D35-1A28-E607C289CE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F05D955-3F1E-B187-DF20-CCF24DF163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502FCDE-C80D-9B1A-E0B5-EC959844DD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219B13-DD88-4CD8-B96A-5BA2F503C9E6}" type="datetimeFigureOut">
              <a:rPr lang="ko-KR" altLang="en-US" smtClean="0"/>
              <a:t>2026-01-31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A1E6570-4EC6-D339-4219-2735E543FA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A50008-5F26-FF0D-9462-966853B605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14F7FD-9BB8-4088-B0C1-67CA31D2984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74214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8136D2-A6C3-FD3C-65AB-0E5D37502B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ADF1B219-1ECF-CF65-8FEB-BB10C2FAA2A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56A76DF-1124-7E7A-420B-91542A9739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6AD6D69-B691-684B-2725-C80A771667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219B13-DD88-4CD8-B96A-5BA2F503C9E6}" type="datetimeFigureOut">
              <a:rPr lang="ko-KR" altLang="en-US" smtClean="0"/>
              <a:t>2026-01-31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4F04EC6-51E8-7DA2-10AD-A91C06024C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3E86C25-CF8B-9FBB-34A0-B469328E75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14F7FD-9BB8-4088-B0C1-67CA31D2984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75148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7924BA-128D-D1C6-A906-E10CCFAE8E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102D900-A2A6-33AE-718C-E1FF282D4B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72AA25E-1EC8-4CCA-27E2-F2C4013C90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219B13-DD88-4CD8-B96A-5BA2F503C9E6}" type="datetimeFigureOut">
              <a:rPr lang="ko-KR" altLang="en-US" smtClean="0"/>
              <a:t>2026-01-31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A3211B5-2080-DFB5-C40A-4B04153C11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A1D566F-91BE-35D1-5B6E-90D2064DE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14F7FD-9BB8-4088-B0C1-67CA31D2984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913131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3BC9B3DE-0E19-A3C6-50B6-706A8EC1EE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9081B3A-1ED1-9BED-6EF1-2B51B1571E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DB53A3E-EF86-DE68-C8AD-36F35D6395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219B13-DD88-4CD8-B96A-5BA2F503C9E6}" type="datetimeFigureOut">
              <a:rPr lang="ko-KR" altLang="en-US" smtClean="0"/>
              <a:t>2026-01-31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811FA8D-A51E-17D0-64C4-8F9581CBDC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FA3E1E3-E6DC-E3D7-DCE7-430FB60143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14F7FD-9BB8-4088-B0C1-67CA31D2984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99666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14B68116-46C0-D145-07E8-93EE688F97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0EFC768-E59A-C1B7-7DCE-F66D3013EA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0BCD5FF-7C2F-8F19-147B-E194C991F71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219B13-DD88-4CD8-B96A-5BA2F503C9E6}" type="datetimeFigureOut">
              <a:rPr lang="ko-KR" altLang="en-US" smtClean="0"/>
              <a:t>2026-01-31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C7CFD2-32F6-AA1D-7DBE-7E4797CBC3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EF1EC0D-B499-1B15-8F2C-7BF8CBB5F7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E14F7FD-9BB8-4088-B0C1-67CA31D2984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98425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소프트웨어, 컴퓨터 아이콘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6C538F6-4F8C-3CBD-270D-8CC9420E8D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294" y="989906"/>
            <a:ext cx="5486400" cy="260875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66AE963E-F2BC-0157-6A84-40CB3B56DC4C}"/>
              </a:ext>
            </a:extLst>
          </p:cNvPr>
          <p:cNvSpPr/>
          <p:nvPr/>
        </p:nvSpPr>
        <p:spPr>
          <a:xfrm>
            <a:off x="1440873" y="1431636"/>
            <a:ext cx="4202549" cy="1283855"/>
          </a:xfrm>
          <a:prstGeom prst="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" name="그림 9" descr="텍스트, 스크린샷, 소프트웨어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D451A85-6832-5075-91F7-A396B57123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294" y="3861177"/>
            <a:ext cx="5486400" cy="257157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D4B30FFD-8A22-03DD-BFDA-5646FAC25C96}"/>
              </a:ext>
            </a:extLst>
          </p:cNvPr>
          <p:cNvSpPr/>
          <p:nvPr/>
        </p:nvSpPr>
        <p:spPr>
          <a:xfrm>
            <a:off x="711205" y="4285673"/>
            <a:ext cx="4932217" cy="1459346"/>
          </a:xfrm>
          <a:prstGeom prst="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6" name="그림 15" descr="텍스트, 소프트웨어, 컴퓨터 아이콘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9BD40F2-C6A9-9DA5-368B-77FF8DEAC5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8273" y="989906"/>
            <a:ext cx="3755505" cy="260875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A6C1DA0D-36DE-EFB2-3156-30547C64700E}"/>
              </a:ext>
            </a:extLst>
          </p:cNvPr>
          <p:cNvSpPr/>
          <p:nvPr/>
        </p:nvSpPr>
        <p:spPr>
          <a:xfrm>
            <a:off x="7620001" y="1311563"/>
            <a:ext cx="2078182" cy="2013528"/>
          </a:xfrm>
          <a:prstGeom prst="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A57DA06-6EB8-EF7B-3D1B-80C695AC0F37}"/>
              </a:ext>
            </a:extLst>
          </p:cNvPr>
          <p:cNvSpPr txBox="1"/>
          <p:nvPr/>
        </p:nvSpPr>
        <p:spPr>
          <a:xfrm>
            <a:off x="6338273" y="3962400"/>
            <a:ext cx="4477509" cy="230832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ko-KR" dirty="0"/>
              <a:t>- </a:t>
            </a:r>
            <a:r>
              <a:rPr lang="ko-KR" altLang="en-US" dirty="0"/>
              <a:t>카드 형식 컴포넌트로 사용할 수 있으며</a:t>
            </a:r>
            <a:endParaRPr lang="en-US" altLang="ko-KR" dirty="0"/>
          </a:p>
          <a:p>
            <a:r>
              <a:rPr lang="ko-KR" altLang="en-US" dirty="0"/>
              <a:t>어느 위치에 어느 사이즈 </a:t>
            </a:r>
            <a:r>
              <a:rPr lang="ko-KR" altLang="en-US" dirty="0" err="1"/>
              <a:t>던간에</a:t>
            </a:r>
            <a:r>
              <a:rPr lang="ko-KR" altLang="en-US" dirty="0"/>
              <a:t> </a:t>
            </a:r>
            <a:r>
              <a:rPr lang="en-US" altLang="ko-KR" dirty="0"/>
              <a:t>elements </a:t>
            </a:r>
            <a:r>
              <a:rPr lang="ko-KR" altLang="en-US" dirty="0"/>
              <a:t>및 레이아웃이 틀어지지 않게 개발한다</a:t>
            </a:r>
            <a:r>
              <a:rPr lang="en-US" altLang="ko-KR" dirty="0"/>
              <a:t>.</a:t>
            </a:r>
          </a:p>
          <a:p>
            <a:pPr marL="285750" indent="-285750">
              <a:buFontTx/>
              <a:buChar char="-"/>
            </a:pPr>
            <a:r>
              <a:rPr lang="ko-KR" altLang="en-US" dirty="0"/>
              <a:t>사용자가 창 사이즈를 중간에 변경해도 틀어지지 않게 즉각 반영한다</a:t>
            </a:r>
            <a:r>
              <a:rPr lang="en-US" altLang="ko-KR" dirty="0"/>
              <a:t>.</a:t>
            </a:r>
          </a:p>
          <a:p>
            <a:pPr marL="285750" indent="-285750">
              <a:buFontTx/>
              <a:buChar char="-"/>
            </a:pPr>
            <a:r>
              <a:rPr lang="ko-KR" altLang="en-US" dirty="0"/>
              <a:t>반드시 컴포넌트 영역 밖으로 </a:t>
            </a:r>
            <a:r>
              <a:rPr lang="ko-KR" altLang="en-US" dirty="0" err="1"/>
              <a:t>삐져</a:t>
            </a:r>
            <a:r>
              <a:rPr lang="ko-KR" altLang="en-US" dirty="0"/>
              <a:t> 나와 표시되는 부분은 없다</a:t>
            </a:r>
            <a:r>
              <a:rPr lang="en-US" altLang="ko-KR" dirty="0"/>
              <a:t>.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31EE09E7-F2EB-CDCB-D9D2-282E2F2B5D95}"/>
              </a:ext>
            </a:extLst>
          </p:cNvPr>
          <p:cNvSpPr/>
          <p:nvPr/>
        </p:nvSpPr>
        <p:spPr>
          <a:xfrm>
            <a:off x="175491" y="92364"/>
            <a:ext cx="2207491" cy="45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컴포넌트 </a:t>
            </a:r>
            <a:r>
              <a:rPr lang="ko-KR" altLang="en-US" dirty="0" err="1"/>
              <a:t>레아아웃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628507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EEC707-3A19-1B04-4BA4-E3B41B75E3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F01D0D4E-CDC1-82B6-4C03-C25E45B6E428}"/>
              </a:ext>
            </a:extLst>
          </p:cNvPr>
          <p:cNvSpPr/>
          <p:nvPr/>
        </p:nvSpPr>
        <p:spPr>
          <a:xfrm>
            <a:off x="175491" y="92364"/>
            <a:ext cx="2207491" cy="45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Header </a:t>
            </a:r>
            <a:r>
              <a:rPr lang="ko-KR" altLang="en-US" dirty="0"/>
              <a:t>날짜 옵션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C00ECF1F-F3AF-B9FA-753A-3F636CAD45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58561"/>
            <a:ext cx="12192000" cy="56036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E3367F2-8CE8-E9D5-FC86-E4551B769C97}"/>
              </a:ext>
            </a:extLst>
          </p:cNvPr>
          <p:cNvSpPr txBox="1"/>
          <p:nvPr/>
        </p:nvSpPr>
        <p:spPr>
          <a:xfrm>
            <a:off x="173713" y="2162409"/>
            <a:ext cx="11844573" cy="28623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ko-KR" dirty="0"/>
              <a:t>- </a:t>
            </a:r>
            <a:r>
              <a:rPr lang="ko-KR" altLang="en-US" dirty="0"/>
              <a:t>위 이미지처럼 </a:t>
            </a:r>
            <a:r>
              <a:rPr lang="en-US" altLang="ko-KR" dirty="0"/>
              <a:t> </a:t>
            </a:r>
            <a:r>
              <a:rPr lang="ko-KR" altLang="en-US" dirty="0"/>
              <a:t>헤더가 두줄로 표현이 되며 윗줄에는 위에는 월</a:t>
            </a:r>
            <a:r>
              <a:rPr lang="en-US" altLang="ko-KR" dirty="0"/>
              <a:t>, </a:t>
            </a:r>
            <a:r>
              <a:rPr lang="ko-KR" altLang="en-US" dirty="0"/>
              <a:t>아래는 일자가 간략히 표현이 된다</a:t>
            </a:r>
            <a:r>
              <a:rPr lang="en-US" altLang="ko-KR" dirty="0"/>
              <a:t>.</a:t>
            </a:r>
          </a:p>
          <a:p>
            <a:pPr marL="285750" indent="-285750">
              <a:buFontTx/>
              <a:buChar char="-"/>
            </a:pPr>
            <a:r>
              <a:rPr lang="ko-KR" altLang="en-US" dirty="0"/>
              <a:t>각 일자 간에는 명확한 구분선은 없지만 일자 위치는 명확하다</a:t>
            </a:r>
            <a:r>
              <a:rPr lang="en-US" altLang="ko-KR" dirty="0"/>
              <a:t>.</a:t>
            </a:r>
          </a:p>
          <a:p>
            <a:pPr marL="285750" indent="-285750">
              <a:buFontTx/>
              <a:buChar char="-"/>
            </a:pPr>
            <a:r>
              <a:rPr lang="ko-KR" altLang="en-US" dirty="0"/>
              <a:t>날짜 </a:t>
            </a:r>
            <a:r>
              <a:rPr lang="ko-KR" altLang="en-US" dirty="0" err="1"/>
              <a:t>포멧은</a:t>
            </a:r>
            <a:r>
              <a:rPr lang="ko-KR" altLang="en-US" dirty="0"/>
              <a:t> 사용자가 </a:t>
            </a:r>
            <a:r>
              <a:rPr lang="en-US" altLang="ko-KR" dirty="0"/>
              <a:t>options </a:t>
            </a:r>
            <a:r>
              <a:rPr lang="ko-KR" altLang="en-US" dirty="0"/>
              <a:t>설정으로 지정할 수 </a:t>
            </a:r>
            <a:r>
              <a:rPr lang="ko-KR" altLang="en-US" dirty="0" err="1"/>
              <a:t>있어야한다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September October November </a:t>
            </a:r>
            <a:r>
              <a:rPr lang="ko-KR" altLang="en-US" dirty="0"/>
              <a:t>대신에 </a:t>
            </a:r>
            <a:r>
              <a:rPr lang="en-US" altLang="ko-KR" dirty="0"/>
              <a:t>9</a:t>
            </a:r>
            <a:r>
              <a:rPr lang="ko-KR" altLang="en-US" dirty="0"/>
              <a:t>월 </a:t>
            </a:r>
            <a:r>
              <a:rPr lang="en-US" altLang="ko-KR" dirty="0"/>
              <a:t>10</a:t>
            </a:r>
            <a:r>
              <a:rPr lang="ko-KR" altLang="en-US" dirty="0"/>
              <a:t>월 </a:t>
            </a:r>
            <a:r>
              <a:rPr lang="en-US" altLang="ko-KR" dirty="0"/>
              <a:t>11</a:t>
            </a:r>
            <a:r>
              <a:rPr lang="ko-KR" altLang="en-US" dirty="0"/>
              <a:t>월 등 표시할 수 </a:t>
            </a:r>
            <a:r>
              <a:rPr lang="ko-KR" altLang="en-US" dirty="0" err="1"/>
              <a:t>있어야한다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여긴 한글 전용 우선으로 만드는 </a:t>
            </a:r>
            <a:r>
              <a:rPr lang="ko-KR" altLang="en-US" dirty="0" err="1"/>
              <a:t>프로젝트니까</a:t>
            </a:r>
            <a:r>
              <a:rPr lang="ko-KR" altLang="en-US" dirty="0"/>
              <a:t> </a:t>
            </a:r>
            <a:r>
              <a:rPr lang="en-US" altLang="ko-KR" dirty="0"/>
              <a:t>‘9</a:t>
            </a:r>
            <a:r>
              <a:rPr lang="ko-KR" altLang="en-US" dirty="0"/>
              <a:t>월 </a:t>
            </a:r>
            <a:r>
              <a:rPr lang="en-US" altLang="ko-KR" dirty="0"/>
              <a:t>10</a:t>
            </a:r>
            <a:r>
              <a:rPr lang="ko-KR" altLang="en-US" dirty="0"/>
              <a:t>월 </a:t>
            </a:r>
            <a:r>
              <a:rPr lang="en-US" altLang="ko-KR" dirty="0"/>
              <a:t>11</a:t>
            </a:r>
            <a:r>
              <a:rPr lang="ko-KR" altLang="en-US" dirty="0"/>
              <a:t>월 </a:t>
            </a:r>
            <a:r>
              <a:rPr lang="en-US" altLang="ko-KR" dirty="0"/>
              <a:t>‘ </a:t>
            </a:r>
            <a:r>
              <a:rPr lang="ko-KR" altLang="en-US" dirty="0"/>
              <a:t>표시를 </a:t>
            </a:r>
            <a:r>
              <a:rPr lang="en-US" altLang="ko-KR" dirty="0"/>
              <a:t>default</a:t>
            </a:r>
            <a:r>
              <a:rPr lang="ko-KR" altLang="en-US" dirty="0"/>
              <a:t>로 한다</a:t>
            </a:r>
            <a:r>
              <a:rPr lang="en-US" altLang="ko-KR" dirty="0"/>
              <a:t>.</a:t>
            </a:r>
          </a:p>
          <a:p>
            <a:pPr marL="285750" indent="-285750">
              <a:buFontTx/>
              <a:buChar char="-"/>
            </a:pPr>
            <a:r>
              <a:rPr lang="ko-KR" altLang="en-US" dirty="0"/>
              <a:t>두번째 줄 일자 표시 옵션도 사용자 </a:t>
            </a:r>
            <a:r>
              <a:rPr lang="en-US" altLang="ko-KR" dirty="0"/>
              <a:t>option </a:t>
            </a:r>
            <a:r>
              <a:rPr lang="ko-KR" altLang="en-US" dirty="0"/>
              <a:t>지정이 </a:t>
            </a:r>
            <a:r>
              <a:rPr lang="ko-KR" altLang="en-US" dirty="0" err="1"/>
              <a:t>가능해야한다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지금처럼 </a:t>
            </a:r>
            <a:r>
              <a:rPr lang="en-US" altLang="ko-KR" dirty="0"/>
              <a:t>28 4 11 18 25 1 8 15 </a:t>
            </a:r>
            <a:r>
              <a:rPr lang="ko-KR" altLang="en-US" dirty="0"/>
              <a:t>등 숫자 형식으로 줄여서 표시되며 이것이 </a:t>
            </a:r>
            <a:r>
              <a:rPr lang="en-US" altLang="ko-KR" dirty="0"/>
              <a:t>default</a:t>
            </a:r>
            <a:r>
              <a:rPr lang="ko-KR" altLang="en-US" dirty="0"/>
              <a:t>로 한다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사용자 옵션으로 </a:t>
            </a:r>
            <a:r>
              <a:rPr lang="en-US" altLang="ko-KR" dirty="0"/>
              <a:t>1 2 3 4 5 6 </a:t>
            </a:r>
            <a:r>
              <a:rPr lang="ko-KR" altLang="en-US" dirty="0"/>
              <a:t>이렇게 일자별로 길게 다 </a:t>
            </a:r>
            <a:r>
              <a:rPr lang="ko-KR" altLang="en-US" dirty="0" err="1"/>
              <a:t>표시해야한다면</a:t>
            </a:r>
            <a:r>
              <a:rPr lang="ko-KR" altLang="en-US" dirty="0"/>
              <a:t> 다 표시할 수 </a:t>
            </a:r>
            <a:r>
              <a:rPr lang="ko-KR" altLang="en-US" dirty="0" err="1"/>
              <a:t>있어야한다</a:t>
            </a:r>
            <a:r>
              <a:rPr lang="en-US" altLang="ko-KR" dirty="0"/>
              <a:t>. (</a:t>
            </a:r>
            <a:r>
              <a:rPr lang="ko-KR" altLang="en-US" dirty="0"/>
              <a:t>레이아웃 내 그래프 </a:t>
            </a:r>
            <a:r>
              <a:rPr lang="ko-KR" altLang="en-US" dirty="0" err="1"/>
              <a:t>길어짐</a:t>
            </a:r>
            <a:r>
              <a:rPr lang="en-US" altLang="ko-KR" dirty="0"/>
              <a:t>) =&gt; </a:t>
            </a:r>
            <a:r>
              <a:rPr lang="ko-KR" altLang="en-US" dirty="0"/>
              <a:t>이는 우측 상단 </a:t>
            </a:r>
            <a:r>
              <a:rPr lang="en-US" altLang="ko-KR" dirty="0"/>
              <a:t>“year” </a:t>
            </a:r>
            <a:r>
              <a:rPr lang="ko-KR" altLang="en-US" dirty="0"/>
              <a:t>옵션으로 옵션은 나중에 슬라이드에 다시 소개</a:t>
            </a:r>
            <a:r>
              <a:rPr lang="en-US" altLang="ko-KR" dirty="0"/>
              <a:t> </a:t>
            </a:r>
            <a:r>
              <a:rPr lang="ko-KR" altLang="en-US" dirty="0"/>
              <a:t>함</a:t>
            </a:r>
            <a:r>
              <a:rPr lang="en-US" altLang="ko-KR" dirty="0"/>
              <a:t>.</a:t>
            </a:r>
          </a:p>
          <a:p>
            <a:pPr marL="285750" indent="-285750">
              <a:buFontTx/>
              <a:buChar char="-"/>
            </a:pPr>
            <a:r>
              <a:rPr lang="ko-KR" altLang="en-US" dirty="0"/>
              <a:t>캡쳐 당시 </a:t>
            </a:r>
            <a:r>
              <a:rPr lang="en-US" altLang="ko-KR" dirty="0"/>
              <a:t>1</a:t>
            </a:r>
            <a:r>
              <a:rPr lang="ko-KR" altLang="en-US" dirty="0"/>
              <a:t>월 </a:t>
            </a:r>
            <a:r>
              <a:rPr lang="en-US" altLang="ko-KR" dirty="0"/>
              <a:t>31</a:t>
            </a:r>
            <a:r>
              <a:rPr lang="ko-KR" altLang="en-US" dirty="0"/>
              <a:t>일 이라서 오늘 날짜에 빨간 마크 표시한다</a:t>
            </a:r>
            <a:r>
              <a:rPr lang="en-US" altLang="ko-K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16849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F8ABBB-5E8E-C84A-39F1-969C03E0AB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292F8EDD-910F-F409-5029-9110C001868E}"/>
              </a:ext>
            </a:extLst>
          </p:cNvPr>
          <p:cNvSpPr/>
          <p:nvPr/>
        </p:nvSpPr>
        <p:spPr>
          <a:xfrm>
            <a:off x="175491" y="92364"/>
            <a:ext cx="3117039" cy="45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Header </a:t>
            </a:r>
            <a:r>
              <a:rPr lang="ko-KR" altLang="en-US" dirty="0"/>
              <a:t>날짜 좌측 옵션</a:t>
            </a:r>
          </a:p>
        </p:txBody>
      </p:sp>
      <p:pic>
        <p:nvPicPr>
          <p:cNvPr id="7" name="그림 6" descr="텍스트, 폰트, 화이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25D6563-4EA0-A773-89A8-B6CBAFE742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13" y="762466"/>
            <a:ext cx="2876951" cy="60015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A865552-AB83-1475-1533-86C78A4C91BD}"/>
              </a:ext>
            </a:extLst>
          </p:cNvPr>
          <p:cNvSpPr txBox="1"/>
          <p:nvPr/>
        </p:nvSpPr>
        <p:spPr>
          <a:xfrm>
            <a:off x="173713" y="1506105"/>
            <a:ext cx="11844573" cy="92333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/>
              <a:t>헤더 윗줄 좌측에는 앞에 가려진 </a:t>
            </a:r>
            <a:r>
              <a:rPr lang="ko-KR" altLang="en-US" dirty="0" err="1"/>
              <a:t>년월이</a:t>
            </a:r>
            <a:r>
              <a:rPr lang="ko-KR" altLang="en-US" dirty="0"/>
              <a:t> </a:t>
            </a:r>
            <a:r>
              <a:rPr lang="en-US" altLang="ko-KR" dirty="0"/>
              <a:t>overlay </a:t>
            </a:r>
            <a:r>
              <a:rPr lang="ko-KR" altLang="en-US" dirty="0"/>
              <a:t>형식으로 띄우며 뒤에 있는 글자는 주변을 연하게 해서 가린다</a:t>
            </a:r>
            <a:r>
              <a:rPr lang="en-US" altLang="ko-KR" dirty="0"/>
              <a:t>.</a:t>
            </a:r>
          </a:p>
          <a:p>
            <a:pPr marL="285750" indent="-285750">
              <a:buFontTx/>
              <a:buChar char="-"/>
            </a:pPr>
            <a:r>
              <a:rPr lang="ko-KR" altLang="en-US" dirty="0"/>
              <a:t>이 </a:t>
            </a:r>
            <a:r>
              <a:rPr lang="ko-KR" altLang="en-US" dirty="0" err="1"/>
              <a:t>년월</a:t>
            </a:r>
            <a:r>
              <a:rPr lang="ko-KR" altLang="en-US" dirty="0"/>
              <a:t> 표시도 사용자 지정으로 </a:t>
            </a:r>
            <a:r>
              <a:rPr lang="ko-KR" altLang="en-US" dirty="0" err="1"/>
              <a:t>포멧을</a:t>
            </a:r>
            <a:r>
              <a:rPr lang="ko-KR" altLang="en-US" dirty="0"/>
              <a:t> 변경할 수 있으며</a:t>
            </a:r>
            <a:r>
              <a:rPr lang="en-US" altLang="ko-KR" dirty="0"/>
              <a:t> </a:t>
            </a:r>
            <a:r>
              <a:rPr lang="ko-KR" altLang="en-US" dirty="0"/>
              <a:t>한글을 우선으로 </a:t>
            </a:r>
            <a:r>
              <a:rPr lang="en-US" altLang="ko-KR" dirty="0"/>
              <a:t>“2025</a:t>
            </a:r>
            <a:r>
              <a:rPr lang="ko-KR" altLang="en-US" dirty="0"/>
              <a:t>년 </a:t>
            </a:r>
            <a:r>
              <a:rPr lang="en-US" altLang="ko-KR" dirty="0"/>
              <a:t>9</a:t>
            </a:r>
            <a:r>
              <a:rPr lang="ko-KR" altLang="en-US" dirty="0"/>
              <a:t>월</a:t>
            </a:r>
            <a:r>
              <a:rPr lang="en-US" altLang="ko-KR" dirty="0"/>
              <a:t>”, “2025</a:t>
            </a:r>
            <a:r>
              <a:rPr lang="ko-KR" altLang="en-US" dirty="0"/>
              <a:t>년 </a:t>
            </a:r>
            <a:r>
              <a:rPr lang="en-US" altLang="ko-KR" dirty="0"/>
              <a:t>8</a:t>
            </a:r>
            <a:r>
              <a:rPr lang="ko-KR" altLang="en-US" dirty="0"/>
              <a:t>월</a:t>
            </a:r>
            <a:r>
              <a:rPr lang="en-US" altLang="ko-KR" dirty="0"/>
              <a:t>” </a:t>
            </a:r>
            <a:r>
              <a:rPr lang="ko-KR" altLang="en-US" dirty="0" err="1"/>
              <a:t>포멧을</a:t>
            </a:r>
            <a:r>
              <a:rPr lang="ko-KR" altLang="en-US" dirty="0"/>
              <a:t> </a:t>
            </a:r>
            <a:r>
              <a:rPr lang="en-US" altLang="ko-KR" dirty="0"/>
              <a:t>default</a:t>
            </a:r>
            <a:r>
              <a:rPr lang="ko-KR" altLang="en-US" dirty="0"/>
              <a:t>로 한다</a:t>
            </a:r>
            <a:r>
              <a:rPr lang="en-US" altLang="ko-KR" dirty="0"/>
              <a:t>.</a:t>
            </a:r>
          </a:p>
        </p:txBody>
      </p:sp>
      <p:pic>
        <p:nvPicPr>
          <p:cNvPr id="10" name="그림 9" descr="텍스트, 폰트, 스크린샷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E3F1E24-030E-3E4A-1AF0-F10E4BA759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2530" y="762466"/>
            <a:ext cx="3353268" cy="61921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6" name="그림 5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47CFD18-07CD-81A3-F66A-C0FDB28355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713" y="2572915"/>
            <a:ext cx="2311734" cy="340073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그림 10" descr="텍스트, 스크린샷, 번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559D8BF-2B3C-E0B6-4C40-C05879708E2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49637" y="2590383"/>
            <a:ext cx="5608106" cy="33848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C65D7AF-9325-4037-80E3-C3CCBA522585}"/>
              </a:ext>
            </a:extLst>
          </p:cNvPr>
          <p:cNvSpPr txBox="1"/>
          <p:nvPr/>
        </p:nvSpPr>
        <p:spPr>
          <a:xfrm>
            <a:off x="8421933" y="2590383"/>
            <a:ext cx="3596353" cy="258532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altLang="ko-KR" dirty="0"/>
              <a:t>“&gt;&gt;”, “&lt;&lt;“ </a:t>
            </a:r>
            <a:r>
              <a:rPr lang="ko-KR" altLang="en-US" dirty="0" err="1"/>
              <a:t>토글</a:t>
            </a:r>
            <a:r>
              <a:rPr lang="ko-KR" altLang="en-US" dirty="0"/>
              <a:t> 아이콘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각 타임라인 막대가 그려지는</a:t>
            </a:r>
            <a:r>
              <a:rPr lang="en-US" altLang="ko-KR" dirty="0"/>
              <a:t> </a:t>
            </a:r>
            <a:r>
              <a:rPr lang="ko-KR" altLang="en-US" dirty="0"/>
              <a:t>목록이 표시된다</a:t>
            </a:r>
            <a:r>
              <a:rPr lang="en-US" altLang="ko-KR" dirty="0"/>
              <a:t>.</a:t>
            </a:r>
          </a:p>
          <a:p>
            <a:pPr marL="285750" indent="-285750">
              <a:buFontTx/>
              <a:buChar char="-"/>
            </a:pPr>
            <a:r>
              <a:rPr lang="ko-KR" altLang="en-US" dirty="0"/>
              <a:t>기본 열림 닫힘 옵션이 제공이 </a:t>
            </a:r>
            <a:r>
              <a:rPr lang="ko-KR" altLang="en-US" dirty="0" err="1"/>
              <a:t>되어야하고</a:t>
            </a:r>
            <a:r>
              <a:rPr lang="ko-KR" altLang="en-US" dirty="0"/>
              <a:t> 기본 닫힘을 </a:t>
            </a:r>
            <a:r>
              <a:rPr lang="en-US" altLang="ko-KR" dirty="0"/>
              <a:t>default</a:t>
            </a:r>
            <a:r>
              <a:rPr lang="ko-KR" altLang="en-US" dirty="0"/>
              <a:t>로 제공한다</a:t>
            </a:r>
            <a:r>
              <a:rPr lang="en-US" altLang="ko-KR" dirty="0"/>
              <a:t>.</a:t>
            </a:r>
          </a:p>
          <a:p>
            <a:pPr marL="285750" indent="-285750">
              <a:buFontTx/>
              <a:buChar char="-"/>
            </a:pPr>
            <a:r>
              <a:rPr lang="ko-KR" altLang="en-US" dirty="0"/>
              <a:t>열고 </a:t>
            </a:r>
            <a:r>
              <a:rPr lang="ko-KR" altLang="en-US" dirty="0" err="1"/>
              <a:t>닫을때도</a:t>
            </a:r>
            <a:r>
              <a:rPr lang="ko-KR" altLang="en-US" dirty="0"/>
              <a:t> </a:t>
            </a:r>
            <a:r>
              <a:rPr lang="en-US" altLang="ko-KR" dirty="0" err="1"/>
              <a:t>gantt</a:t>
            </a:r>
            <a:r>
              <a:rPr lang="en-US" altLang="ko-KR" dirty="0"/>
              <a:t> chart </a:t>
            </a:r>
            <a:r>
              <a:rPr lang="ko-KR" altLang="en-US" dirty="0"/>
              <a:t>레이아웃은 항상 틀어지거나 깨지지 </a:t>
            </a:r>
            <a:r>
              <a:rPr lang="ko-KR" altLang="en-US" dirty="0" err="1"/>
              <a:t>않아야한다</a:t>
            </a:r>
            <a:r>
              <a:rPr lang="en-US" altLang="ko-K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082338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CD6A13-CE17-7F0F-13AF-86B94B5A02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653D17ED-566C-1C47-DE17-86C72DE35266}"/>
              </a:ext>
            </a:extLst>
          </p:cNvPr>
          <p:cNvSpPr/>
          <p:nvPr/>
        </p:nvSpPr>
        <p:spPr>
          <a:xfrm>
            <a:off x="175491" y="92364"/>
            <a:ext cx="3117039" cy="45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Header </a:t>
            </a:r>
            <a:r>
              <a:rPr lang="ko-KR" altLang="en-US" dirty="0"/>
              <a:t>날짜 우측 옵션</a:t>
            </a:r>
          </a:p>
        </p:txBody>
      </p:sp>
      <p:pic>
        <p:nvPicPr>
          <p:cNvPr id="6" name="그림 5" descr="텍스트, 폰트, 라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18E591E-126D-224F-0086-1A345D979D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1904" y="1482055"/>
            <a:ext cx="2667372" cy="85737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43BF09D-C8C7-C76F-1621-DDC5DD34E6B7}"/>
              </a:ext>
            </a:extLst>
          </p:cNvPr>
          <p:cNvSpPr txBox="1"/>
          <p:nvPr/>
        </p:nvSpPr>
        <p:spPr>
          <a:xfrm>
            <a:off x="1734010" y="5352473"/>
            <a:ext cx="7908104" cy="64633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altLang="ko-KR" dirty="0"/>
              <a:t>‘year’(select box), ‘&lt;‘, ‘Today’, ‘&gt;’ 4</a:t>
            </a:r>
            <a:r>
              <a:rPr lang="ko-KR" altLang="en-US" dirty="0"/>
              <a:t>개 항목 오버레이이며</a:t>
            </a:r>
            <a:br>
              <a:rPr lang="en-US" altLang="ko-KR" dirty="0"/>
            </a:br>
            <a:r>
              <a:rPr lang="ko-KR" altLang="en-US" dirty="0"/>
              <a:t>역시 </a:t>
            </a:r>
            <a:r>
              <a:rPr lang="ko-KR" altLang="en-US" dirty="0" err="1"/>
              <a:t>뒷</a:t>
            </a:r>
            <a:r>
              <a:rPr lang="ko-KR" altLang="en-US" dirty="0"/>
              <a:t> 부분 글자도 주변 </a:t>
            </a:r>
            <a:r>
              <a:rPr lang="ko-KR" altLang="en-US" dirty="0" err="1"/>
              <a:t>연하게해서</a:t>
            </a:r>
            <a:r>
              <a:rPr lang="ko-KR" altLang="en-US" dirty="0"/>
              <a:t> 가려진다</a:t>
            </a:r>
            <a:r>
              <a:rPr lang="en-US" altLang="ko-KR" dirty="0"/>
              <a:t>.</a:t>
            </a:r>
          </a:p>
        </p:txBody>
      </p:sp>
      <p:pic>
        <p:nvPicPr>
          <p:cNvPr id="9" name="그림 8" descr="텍스트, 스크린샷, 번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3657362-D50D-BD40-29DA-C8DBCEAC3D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3145" y="1554334"/>
            <a:ext cx="2876951" cy="296268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8156166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A93AF2-C78A-DA0C-9FF8-16F2FBC58A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BA279E4-0C49-E92A-A914-15080D44745F}"/>
              </a:ext>
            </a:extLst>
          </p:cNvPr>
          <p:cNvSpPr/>
          <p:nvPr/>
        </p:nvSpPr>
        <p:spPr>
          <a:xfrm>
            <a:off x="175491" y="92364"/>
            <a:ext cx="4516582" cy="45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Header </a:t>
            </a:r>
            <a:r>
              <a:rPr lang="ko-KR" altLang="en-US" dirty="0"/>
              <a:t>날짜 우측 옵션 </a:t>
            </a:r>
            <a:r>
              <a:rPr lang="en-US" altLang="ko-KR" dirty="0"/>
              <a:t>(chart </a:t>
            </a:r>
            <a:r>
              <a:rPr lang="ko-KR" altLang="en-US" dirty="0"/>
              <a:t>주기 옵션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82930DE-428A-DBEB-774F-8B6CE196ECA5}"/>
              </a:ext>
            </a:extLst>
          </p:cNvPr>
          <p:cNvSpPr txBox="1"/>
          <p:nvPr/>
        </p:nvSpPr>
        <p:spPr>
          <a:xfrm>
            <a:off x="173713" y="656743"/>
            <a:ext cx="11844573" cy="14773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/>
              <a:t>앞서 소개한 캡쳐는 </a:t>
            </a:r>
            <a:r>
              <a:rPr lang="en-US" altLang="ko-KR" dirty="0"/>
              <a:t>year chart</a:t>
            </a:r>
            <a:r>
              <a:rPr lang="ko-KR" altLang="en-US" dirty="0"/>
              <a:t> 옵션이다</a:t>
            </a:r>
            <a:r>
              <a:rPr lang="en-US" altLang="ko-KR" dirty="0"/>
              <a:t>.</a:t>
            </a:r>
          </a:p>
          <a:p>
            <a:pPr marL="285750" indent="-285750">
              <a:buFontTx/>
              <a:buChar char="-"/>
            </a:pPr>
            <a:r>
              <a:rPr lang="ko-KR" altLang="en-US" dirty="0"/>
              <a:t>더 크게는 </a:t>
            </a:r>
            <a:r>
              <a:rPr lang="en-US" altLang="ko-KR" dirty="0"/>
              <a:t>5</a:t>
            </a:r>
            <a:r>
              <a:rPr lang="ko-KR" altLang="en-US" dirty="0"/>
              <a:t>년이 있는데 총 데이터가 </a:t>
            </a:r>
            <a:r>
              <a:rPr lang="en-US" altLang="ko-KR" dirty="0"/>
              <a:t>5</a:t>
            </a:r>
            <a:r>
              <a:rPr lang="ko-KR" altLang="en-US" dirty="0"/>
              <a:t>년이 넘지 않아서 년간</a:t>
            </a:r>
            <a:r>
              <a:rPr lang="en-US" altLang="ko-KR" dirty="0"/>
              <a:t>(year) </a:t>
            </a:r>
            <a:r>
              <a:rPr lang="ko-KR" altLang="en-US" dirty="0"/>
              <a:t>주기로 표시해준다</a:t>
            </a:r>
            <a:r>
              <a:rPr lang="en-US" altLang="ko-KR" dirty="0"/>
              <a:t>.</a:t>
            </a:r>
          </a:p>
          <a:p>
            <a:pPr marL="285750" indent="-285750">
              <a:buFontTx/>
              <a:buChar char="-"/>
            </a:pPr>
            <a:r>
              <a:rPr lang="ko-KR" altLang="en-US" dirty="0"/>
              <a:t>이 주기 지정 사용자 옵션이 있으면 그렇게 표시해주고 아니면 이렇게 알아서 보여준다</a:t>
            </a:r>
            <a:r>
              <a:rPr lang="en-US" altLang="ko-KR" dirty="0"/>
              <a:t>.</a:t>
            </a:r>
          </a:p>
          <a:p>
            <a:pPr marL="285750" indent="-285750">
              <a:buFontTx/>
              <a:buChar char="-"/>
            </a:pPr>
            <a:r>
              <a:rPr lang="ko-KR" altLang="en-US" dirty="0"/>
              <a:t>옵션별 </a:t>
            </a:r>
            <a:r>
              <a:rPr lang="en-US" altLang="ko-KR" dirty="0"/>
              <a:t>Header </a:t>
            </a:r>
            <a:r>
              <a:rPr lang="ko-KR" altLang="en-US" dirty="0"/>
              <a:t>표시 모습은 아래 캡쳐들로 대신한다</a:t>
            </a:r>
            <a:r>
              <a:rPr lang="en-US" altLang="ko-KR" dirty="0"/>
              <a:t>, </a:t>
            </a:r>
            <a:r>
              <a:rPr lang="ko-KR" altLang="en-US" dirty="0"/>
              <a:t>똑같이 만든다 </a:t>
            </a:r>
            <a:r>
              <a:rPr lang="en-US" altLang="ko-KR" dirty="0"/>
              <a:t>(</a:t>
            </a:r>
            <a:r>
              <a:rPr lang="ko-KR" altLang="en-US" dirty="0"/>
              <a:t>한글 옵션으로</a:t>
            </a:r>
            <a:r>
              <a:rPr lang="en-US" altLang="ko-KR" dirty="0"/>
              <a:t>)</a:t>
            </a:r>
          </a:p>
          <a:p>
            <a:pPr marL="285750" indent="-285750">
              <a:buFontTx/>
              <a:buChar char="-"/>
            </a:pPr>
            <a:r>
              <a:rPr lang="ko-KR" altLang="en-US" dirty="0"/>
              <a:t>아랫줄 </a:t>
            </a:r>
            <a:r>
              <a:rPr lang="en-US" altLang="ko-KR" dirty="0"/>
              <a:t>Header</a:t>
            </a:r>
            <a:r>
              <a:rPr lang="ko-KR" altLang="en-US" dirty="0"/>
              <a:t>가 시간 단위인 경우 오늘 날짜 마크를 표시하지 않음</a:t>
            </a:r>
            <a:r>
              <a:rPr lang="en-US" altLang="ko-KR" dirty="0"/>
              <a:t>.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6E669433-DFFA-5914-58A6-BB3DBF7F3E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19442"/>
            <a:ext cx="12192000" cy="60878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A896FAF9-6430-19BD-1E18-861ACC40CD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961304"/>
            <a:ext cx="12192000" cy="49846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BB026D96-0219-3FC5-25F7-1BEC3E3CAD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592844"/>
            <a:ext cx="12192000" cy="51654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FAD5DEA4-7405-2BBC-8304-C7161E5C0D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4242459"/>
            <a:ext cx="12192000" cy="57239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A9C042A7-DD14-EB1F-44FA-973CCAB991D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4950236"/>
            <a:ext cx="12192000" cy="52368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88E2D8F4-6DED-DB21-B0C0-16E75643C34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5609302"/>
            <a:ext cx="12192000" cy="50595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A15EEC7B-4DB6-0ADB-5BF5-C981EF68D52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0" y="6250644"/>
            <a:ext cx="12192000" cy="49293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3777639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EB0D68-B027-1F56-90DB-428E39DD47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77A9B7E9-2D12-A2C2-BAC7-355EFD3C8AFA}"/>
              </a:ext>
            </a:extLst>
          </p:cNvPr>
          <p:cNvSpPr/>
          <p:nvPr/>
        </p:nvSpPr>
        <p:spPr>
          <a:xfrm>
            <a:off x="175491" y="92364"/>
            <a:ext cx="4516582" cy="45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Header </a:t>
            </a:r>
            <a:r>
              <a:rPr lang="ko-KR" altLang="en-US" dirty="0"/>
              <a:t>날짜 우측 옵션 </a:t>
            </a:r>
            <a:r>
              <a:rPr lang="en-US" altLang="ko-KR" dirty="0"/>
              <a:t>(Today </a:t>
            </a:r>
            <a:r>
              <a:rPr lang="ko-KR" altLang="en-US" dirty="0"/>
              <a:t>버튼</a:t>
            </a:r>
            <a:r>
              <a:rPr lang="en-US" altLang="ko-KR" dirty="0"/>
              <a:t>)</a:t>
            </a:r>
            <a:endParaRPr lang="ko-KR" altLang="en-US" dirty="0"/>
          </a:p>
        </p:txBody>
      </p:sp>
      <p:pic>
        <p:nvPicPr>
          <p:cNvPr id="4" name="그림 3" descr="텍스트, 스크린샷, 폰트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7B614A3-74DF-B7F8-A4D6-145DC3D256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5564" y="606039"/>
            <a:ext cx="6520872" cy="224963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1BA3241-2459-EC44-6055-1B3821FD7C7B}"/>
              </a:ext>
            </a:extLst>
          </p:cNvPr>
          <p:cNvSpPr txBox="1"/>
          <p:nvPr/>
        </p:nvSpPr>
        <p:spPr>
          <a:xfrm>
            <a:off x="173713" y="2963236"/>
            <a:ext cx="11844573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/>
              <a:t>하단 스크롤 및 버튼으로 </a:t>
            </a:r>
            <a:r>
              <a:rPr lang="en-US" altLang="ko-KR" dirty="0"/>
              <a:t>chart</a:t>
            </a:r>
            <a:r>
              <a:rPr lang="ko-KR" altLang="en-US" dirty="0"/>
              <a:t>를 이동한 모습</a:t>
            </a:r>
            <a:endParaRPr lang="en-US" altLang="ko-KR" dirty="0"/>
          </a:p>
        </p:txBody>
      </p:sp>
      <p:pic>
        <p:nvPicPr>
          <p:cNvPr id="7" name="그림 6" descr="텍스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D0FDE52-F124-1793-92DC-FAEA6AABE6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5564" y="3774753"/>
            <a:ext cx="6520872" cy="22513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A287C5B-CD56-22D0-1CE8-1B8D955A7E5A}"/>
              </a:ext>
            </a:extLst>
          </p:cNvPr>
          <p:cNvSpPr txBox="1"/>
          <p:nvPr/>
        </p:nvSpPr>
        <p:spPr>
          <a:xfrm>
            <a:off x="173713" y="6154268"/>
            <a:ext cx="11844573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altLang="ko-KR" dirty="0"/>
              <a:t>‘today’ </a:t>
            </a:r>
            <a:r>
              <a:rPr lang="ko-KR" altLang="en-US" dirty="0"/>
              <a:t>버튼을 누른 후 오늘 날짜를 중앙으로 배치된 모습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8545585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C27815-2705-DD7A-2A0E-BDB0DAAAA8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A7184C3-68F4-B4C9-C0AF-90EF77CA70E1}"/>
              </a:ext>
            </a:extLst>
          </p:cNvPr>
          <p:cNvSpPr/>
          <p:nvPr/>
        </p:nvSpPr>
        <p:spPr>
          <a:xfrm>
            <a:off x="175491" y="92364"/>
            <a:ext cx="4516582" cy="45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Header </a:t>
            </a:r>
            <a:r>
              <a:rPr lang="ko-KR" altLang="en-US" dirty="0"/>
              <a:t>날짜 우측 옵션 </a:t>
            </a:r>
            <a:r>
              <a:rPr lang="en-US" altLang="ko-KR" dirty="0"/>
              <a:t>(‘&lt;‘, ‘&gt;’ </a:t>
            </a:r>
            <a:r>
              <a:rPr lang="ko-KR" altLang="en-US" dirty="0"/>
              <a:t>버튼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268FBF-BAE1-35CD-113D-13164EB29092}"/>
              </a:ext>
            </a:extLst>
          </p:cNvPr>
          <p:cNvSpPr txBox="1"/>
          <p:nvPr/>
        </p:nvSpPr>
        <p:spPr>
          <a:xfrm>
            <a:off x="173713" y="2963236"/>
            <a:ext cx="11844573" cy="64633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altLang="ko-KR" dirty="0"/>
              <a:t>Today </a:t>
            </a:r>
            <a:r>
              <a:rPr lang="ko-KR" altLang="en-US" dirty="0"/>
              <a:t>눌러서 재배치 된 상태에서 </a:t>
            </a:r>
            <a:r>
              <a:rPr lang="en-US" altLang="ko-KR" dirty="0"/>
              <a:t>‘&lt;‘ </a:t>
            </a:r>
            <a:r>
              <a:rPr lang="ko-KR" altLang="en-US" dirty="0"/>
              <a:t>버튼을 좌측으로 눌러 차트 절반 페이지 이동한 모습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한번 더 누르면 또 우측으로 절반 페이지 이동</a:t>
            </a:r>
            <a:endParaRPr lang="en-US" altLang="ko-KR" dirty="0"/>
          </a:p>
        </p:txBody>
      </p:sp>
      <p:pic>
        <p:nvPicPr>
          <p:cNvPr id="6" name="그림 5" descr="텍스트, 스크린샷, 소프트웨어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7B6CB51-E342-872F-3F64-860CB09EC6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5564" y="629276"/>
            <a:ext cx="6520872" cy="22531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그림 9" descr="텍스트, 라인, 그래프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FBD0BF-2F07-232A-A584-BF79B2D4CD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5564" y="3690379"/>
            <a:ext cx="6520872" cy="222043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B4B59A4-5B84-382A-1706-B574E4C66D64}"/>
              </a:ext>
            </a:extLst>
          </p:cNvPr>
          <p:cNvSpPr txBox="1"/>
          <p:nvPr/>
        </p:nvSpPr>
        <p:spPr>
          <a:xfrm>
            <a:off x="173713" y="6024339"/>
            <a:ext cx="11844573" cy="64633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altLang="ko-KR" dirty="0"/>
              <a:t>Today </a:t>
            </a:r>
            <a:r>
              <a:rPr lang="ko-KR" altLang="en-US" dirty="0"/>
              <a:t>눌러서 재배치 된 상태에서 </a:t>
            </a:r>
            <a:r>
              <a:rPr lang="en-US" altLang="ko-KR" dirty="0"/>
              <a:t>‘&gt;‘ </a:t>
            </a:r>
            <a:r>
              <a:rPr lang="ko-KR" altLang="en-US" dirty="0"/>
              <a:t>버튼을 우측으로 눌러 차트 절반 페이지 이동한 모습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한번 더 누르면 또 우측으로 절반 페이지 이동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9037835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607C60-CFB7-0B4C-0C47-84ED5034CE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73570012-EED5-F05C-4A9E-4F30E2E9528B}"/>
              </a:ext>
            </a:extLst>
          </p:cNvPr>
          <p:cNvSpPr/>
          <p:nvPr/>
        </p:nvSpPr>
        <p:spPr>
          <a:xfrm>
            <a:off x="175491" y="92364"/>
            <a:ext cx="4516582" cy="45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Header </a:t>
            </a:r>
            <a:r>
              <a:rPr lang="ko-KR" altLang="en-US" dirty="0"/>
              <a:t>막대 기간 표시 오버레이</a:t>
            </a:r>
          </a:p>
        </p:txBody>
      </p:sp>
      <p:pic>
        <p:nvPicPr>
          <p:cNvPr id="4" name="그림 3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D9949FA-9848-EF7D-DD1A-4975D013B7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4763" y="602757"/>
            <a:ext cx="4082472" cy="230618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733F1EA-3FE2-11E2-E90C-5B7C140D3771}"/>
              </a:ext>
            </a:extLst>
          </p:cNvPr>
          <p:cNvSpPr txBox="1"/>
          <p:nvPr/>
        </p:nvSpPr>
        <p:spPr>
          <a:xfrm>
            <a:off x="173713" y="2963236"/>
            <a:ext cx="11844573" cy="12003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/>
              <a:t>위 캡쳐는 </a:t>
            </a:r>
            <a:r>
              <a:rPr lang="en-US" altLang="ko-KR" dirty="0"/>
              <a:t>“Back-End </a:t>
            </a:r>
            <a:r>
              <a:rPr lang="ko-KR" altLang="en-US" dirty="0"/>
              <a:t>환경 셋팅</a:t>
            </a:r>
            <a:r>
              <a:rPr lang="en-US" altLang="ko-KR" dirty="0"/>
              <a:t>“ </a:t>
            </a:r>
            <a:r>
              <a:rPr lang="ko-KR" altLang="en-US" dirty="0"/>
              <a:t>이라는 항목에 마우스 커서를 올린 모습이다</a:t>
            </a:r>
            <a:r>
              <a:rPr lang="en-US" altLang="ko-KR" dirty="0"/>
              <a:t>.</a:t>
            </a:r>
          </a:p>
          <a:p>
            <a:pPr marL="285750" indent="-285750">
              <a:buFontTx/>
              <a:buChar char="-"/>
            </a:pPr>
            <a:r>
              <a:rPr lang="ko-KR" altLang="en-US" dirty="0"/>
              <a:t>각 막대 항목마다 마우스 커서를 올리면 그 위에 헤더 부분에 일자 부분만 작게 가려서</a:t>
            </a:r>
            <a:br>
              <a:rPr lang="en-US" altLang="ko-KR" dirty="0"/>
            </a:br>
            <a:r>
              <a:rPr lang="ko-KR" altLang="en-US" dirty="0"/>
              <a:t>회색 음영으로 해당 기간이 표시된다 </a:t>
            </a:r>
            <a:r>
              <a:rPr lang="en-US" altLang="ko-KR" dirty="0"/>
              <a:t>“Jul 26     Sep 2“</a:t>
            </a:r>
          </a:p>
          <a:p>
            <a:pPr marL="285750" indent="-285750">
              <a:buFontTx/>
              <a:buChar char="-"/>
            </a:pPr>
            <a:r>
              <a:rPr lang="ko-KR" altLang="en-US" dirty="0"/>
              <a:t>물론 한글을 </a:t>
            </a:r>
            <a:r>
              <a:rPr lang="en-US" altLang="ko-KR" dirty="0"/>
              <a:t>default</a:t>
            </a:r>
            <a:r>
              <a:rPr lang="ko-KR" altLang="en-US" dirty="0"/>
              <a:t>로 </a:t>
            </a:r>
            <a:r>
              <a:rPr lang="en-US" altLang="ko-KR" dirty="0"/>
              <a:t>“7</a:t>
            </a:r>
            <a:r>
              <a:rPr lang="ko-KR" altLang="en-US" dirty="0"/>
              <a:t>월 </a:t>
            </a:r>
            <a:r>
              <a:rPr lang="en-US" altLang="ko-KR" dirty="0"/>
              <a:t>26</a:t>
            </a:r>
            <a:r>
              <a:rPr lang="ko-KR" altLang="en-US" dirty="0"/>
              <a:t>일    </a:t>
            </a:r>
            <a:r>
              <a:rPr lang="en-US" altLang="ko-KR" dirty="0"/>
              <a:t>8</a:t>
            </a:r>
            <a:r>
              <a:rPr lang="ko-KR" altLang="en-US" dirty="0"/>
              <a:t>월 </a:t>
            </a:r>
            <a:r>
              <a:rPr lang="en-US" altLang="ko-KR" dirty="0"/>
              <a:t>2</a:t>
            </a:r>
            <a:r>
              <a:rPr lang="ko-KR" altLang="en-US" dirty="0"/>
              <a:t>일</a:t>
            </a:r>
            <a:r>
              <a:rPr lang="en-US" altLang="ko-KR" dirty="0"/>
              <a:t>“ </a:t>
            </a:r>
            <a:r>
              <a:rPr lang="ko-KR" altLang="en-US" dirty="0"/>
              <a:t>로 표시해야 하며 사용자가 </a:t>
            </a:r>
            <a:r>
              <a:rPr lang="ko-KR" altLang="en-US" dirty="0" err="1"/>
              <a:t>포멧</a:t>
            </a:r>
            <a:r>
              <a:rPr lang="ko-KR" altLang="en-US" dirty="0"/>
              <a:t> 옵션을 지정할 수 있다</a:t>
            </a:r>
            <a:r>
              <a:rPr lang="en-US" altLang="ko-KR" dirty="0"/>
              <a:t>.</a:t>
            </a:r>
          </a:p>
        </p:txBody>
      </p:sp>
      <p:pic>
        <p:nvPicPr>
          <p:cNvPr id="7" name="그림 6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9904962-4ED1-FCB2-C1C8-55918D8D39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5963" y="4217858"/>
            <a:ext cx="2660074" cy="169745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FD19F6A-A665-9C37-4853-BFA3F2137985}"/>
              </a:ext>
            </a:extLst>
          </p:cNvPr>
          <p:cNvSpPr txBox="1"/>
          <p:nvPr/>
        </p:nvSpPr>
        <p:spPr>
          <a:xfrm>
            <a:off x="173713" y="5978172"/>
            <a:ext cx="11844573" cy="92333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/>
              <a:t>위 캡쳐는 </a:t>
            </a:r>
            <a:r>
              <a:rPr lang="en-US" altLang="ko-KR" dirty="0"/>
              <a:t>5</a:t>
            </a:r>
            <a:r>
              <a:rPr lang="ko-KR" altLang="en-US" dirty="0"/>
              <a:t>년 </a:t>
            </a:r>
            <a:r>
              <a:rPr lang="en-US" altLang="ko-KR" dirty="0"/>
              <a:t>chart</a:t>
            </a:r>
            <a:r>
              <a:rPr lang="ko-KR" altLang="en-US" dirty="0"/>
              <a:t>로 표시해서 일부러 좁은 막대로 표시하는 모습이다</a:t>
            </a:r>
            <a:r>
              <a:rPr lang="en-US" altLang="ko-KR" dirty="0"/>
              <a:t>.</a:t>
            </a:r>
          </a:p>
          <a:p>
            <a:pPr marL="285750" indent="-285750">
              <a:buFontTx/>
              <a:buChar char="-"/>
            </a:pPr>
            <a:r>
              <a:rPr lang="en-US" altLang="ko-KR" dirty="0"/>
              <a:t>“</a:t>
            </a:r>
            <a:r>
              <a:rPr lang="ko-KR" altLang="en-US" dirty="0"/>
              <a:t>분석</a:t>
            </a:r>
            <a:r>
              <a:rPr lang="en-US" altLang="ko-KR" dirty="0"/>
              <a:t>“ </a:t>
            </a:r>
            <a:r>
              <a:rPr lang="ko-KR" altLang="en-US" dirty="0"/>
              <a:t>항목에 마우스 커서를 올린 모습이고</a:t>
            </a:r>
            <a:r>
              <a:rPr lang="en-US" altLang="ko-KR" dirty="0"/>
              <a:t>, </a:t>
            </a:r>
            <a:r>
              <a:rPr lang="ko-KR" altLang="en-US" dirty="0"/>
              <a:t>위 헤더 기간 </a:t>
            </a:r>
            <a:r>
              <a:rPr lang="ko-KR" altLang="en-US" dirty="0" err="1"/>
              <a:t>오버레이에</a:t>
            </a:r>
            <a:r>
              <a:rPr lang="ko-KR" altLang="en-US" dirty="0"/>
              <a:t> 막대가 짧아도 넓게 표시해준다</a:t>
            </a:r>
            <a:r>
              <a:rPr lang="en-US" altLang="ko-KR" dirty="0"/>
              <a:t>.</a:t>
            </a:r>
          </a:p>
          <a:p>
            <a:pPr marL="285750" indent="-285750">
              <a:buFontTx/>
              <a:buChar char="-"/>
            </a:pPr>
            <a:r>
              <a:rPr lang="ko-KR" altLang="en-US" dirty="0"/>
              <a:t>데이터 막대에 마우스 커서를 올리면 해당 막대도 같이 회색 음영으로 표시해준다</a:t>
            </a:r>
            <a:r>
              <a:rPr lang="en-US" altLang="ko-K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337405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758980-F726-89AB-C79A-FD46284312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98F6F8E4-9667-04EC-F2EA-7C38BEB57B12}"/>
              </a:ext>
            </a:extLst>
          </p:cNvPr>
          <p:cNvSpPr/>
          <p:nvPr/>
        </p:nvSpPr>
        <p:spPr>
          <a:xfrm>
            <a:off x="175491" y="92364"/>
            <a:ext cx="4516582" cy="45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Body</a:t>
            </a:r>
            <a:r>
              <a:rPr lang="ko-KR" altLang="en-US" dirty="0"/>
              <a:t> 오늘 날짜 막대</a:t>
            </a:r>
          </a:p>
        </p:txBody>
      </p:sp>
      <p:pic>
        <p:nvPicPr>
          <p:cNvPr id="4" name="그림 3" descr="텍스트, 스크린샷, 번호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2C8D524-1AF7-9871-C255-9D81CD4495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491" y="947391"/>
            <a:ext cx="5572903" cy="496321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DDA4357-E3C8-E38B-61DA-23A8147FE406}"/>
              </a:ext>
            </a:extLst>
          </p:cNvPr>
          <p:cNvSpPr txBox="1"/>
          <p:nvPr/>
        </p:nvSpPr>
        <p:spPr>
          <a:xfrm>
            <a:off x="5957455" y="947391"/>
            <a:ext cx="6060831" cy="175432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altLang="ko-KR" dirty="0"/>
              <a:t>Body </a:t>
            </a:r>
            <a:r>
              <a:rPr lang="ko-KR" altLang="en-US" dirty="0"/>
              <a:t>영역에서 오늘 날짜 빨간 구분 선이 </a:t>
            </a:r>
            <a:r>
              <a:rPr lang="ko-KR" altLang="en-US" dirty="0" err="1"/>
              <a:t>그어져야한다</a:t>
            </a:r>
            <a:r>
              <a:rPr lang="en-US" altLang="ko-KR" dirty="0"/>
              <a:t>.</a:t>
            </a:r>
          </a:p>
          <a:p>
            <a:pPr marL="285750" indent="-285750">
              <a:buFontTx/>
              <a:buChar char="-"/>
            </a:pPr>
            <a:r>
              <a:rPr lang="en-US" altLang="ko-KR" dirty="0"/>
              <a:t>Body </a:t>
            </a:r>
            <a:r>
              <a:rPr lang="ko-KR" altLang="en-US" dirty="0"/>
              <a:t>내에 데이터 표시 막대가 있으면 막대 뒤에 표시한다</a:t>
            </a:r>
            <a:r>
              <a:rPr lang="en-US" altLang="ko-KR" dirty="0"/>
              <a:t>.</a:t>
            </a:r>
          </a:p>
          <a:p>
            <a:pPr marL="285750" indent="-285750">
              <a:buFontTx/>
              <a:buChar char="-"/>
            </a:pPr>
            <a:r>
              <a:rPr lang="ko-KR" altLang="en-US" dirty="0"/>
              <a:t>각종 </a:t>
            </a:r>
            <a:r>
              <a:rPr lang="ko-KR" altLang="en-US" dirty="0" err="1"/>
              <a:t>토글</a:t>
            </a:r>
            <a:r>
              <a:rPr lang="ko-KR" altLang="en-US" dirty="0"/>
              <a:t> 및 사이즈 변경에도 위치가 깨지지 </a:t>
            </a:r>
            <a:r>
              <a:rPr lang="ko-KR" altLang="en-US" dirty="0" err="1"/>
              <a:t>말아야한다</a:t>
            </a:r>
            <a:r>
              <a:rPr lang="en-US" altLang="ko-KR" dirty="0"/>
              <a:t>. (</a:t>
            </a:r>
            <a:r>
              <a:rPr lang="ko-KR" altLang="en-US" dirty="0"/>
              <a:t>위치 표시 버그가 </a:t>
            </a:r>
            <a:r>
              <a:rPr lang="ko-KR" altLang="en-US" dirty="0" err="1"/>
              <a:t>없어야한다</a:t>
            </a:r>
            <a:r>
              <a:rPr lang="en-US" altLang="ko-KR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3081124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61327-7337-D032-8D86-F7731E440F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C5F5C6A1-EA63-58ED-92F7-A83388A6C365}"/>
              </a:ext>
            </a:extLst>
          </p:cNvPr>
          <p:cNvSpPr/>
          <p:nvPr/>
        </p:nvSpPr>
        <p:spPr>
          <a:xfrm>
            <a:off x="175491" y="92364"/>
            <a:ext cx="4516582" cy="45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Body</a:t>
            </a:r>
            <a:r>
              <a:rPr lang="ko-KR" altLang="en-US" dirty="0"/>
              <a:t> 데이터 막대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9C2A96-69E0-053B-18F6-7BA73CB5FD78}"/>
              </a:ext>
            </a:extLst>
          </p:cNvPr>
          <p:cNvSpPr txBox="1"/>
          <p:nvPr/>
        </p:nvSpPr>
        <p:spPr>
          <a:xfrm>
            <a:off x="245775" y="4863609"/>
            <a:ext cx="11707859" cy="175432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/>
              <a:t>데이터 막대 길이는 항상 그 데이터의 날짜</a:t>
            </a:r>
            <a:r>
              <a:rPr lang="en-US" altLang="ko-KR" dirty="0"/>
              <a:t>/</a:t>
            </a:r>
            <a:r>
              <a:rPr lang="ko-KR" altLang="en-US" dirty="0"/>
              <a:t>시간 길이와 맞춘다</a:t>
            </a:r>
            <a:r>
              <a:rPr lang="en-US" altLang="ko-KR" dirty="0"/>
              <a:t>.</a:t>
            </a:r>
          </a:p>
          <a:p>
            <a:pPr marL="285750" indent="-285750">
              <a:buFontTx/>
              <a:buChar char="-"/>
            </a:pPr>
            <a:r>
              <a:rPr lang="ko-KR" altLang="en-US" dirty="0"/>
              <a:t>막대 내에 표시하는 컴포넌트 및 글자들은 </a:t>
            </a:r>
            <a:r>
              <a:rPr lang="en-US" altLang="ko-KR" dirty="0"/>
              <a:t>React </a:t>
            </a:r>
            <a:r>
              <a:rPr lang="ko-KR" altLang="en-US" dirty="0"/>
              <a:t>컴포넌트 로 사용자 정의할 수 있게 </a:t>
            </a:r>
            <a:r>
              <a:rPr lang="en-US" altLang="ko-KR" dirty="0"/>
              <a:t>render</a:t>
            </a:r>
            <a:r>
              <a:rPr lang="ko-KR" altLang="en-US" dirty="0"/>
              <a:t>할 옵션이 제공 </a:t>
            </a:r>
            <a:r>
              <a:rPr lang="ko-KR" altLang="en-US" dirty="0" err="1"/>
              <a:t>되어야하며</a:t>
            </a:r>
            <a:r>
              <a:rPr lang="en-US" altLang="ko-KR" dirty="0"/>
              <a:t>,</a:t>
            </a:r>
            <a:r>
              <a:rPr lang="ko-KR" altLang="en-US" dirty="0"/>
              <a:t> 기본은 데이터 이름만 표시한다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사용자 정의 </a:t>
            </a:r>
            <a:r>
              <a:rPr lang="en-US" altLang="ko-KR" dirty="0"/>
              <a:t>rendering </a:t>
            </a:r>
            <a:r>
              <a:rPr lang="ko-KR" altLang="en-US" dirty="0"/>
              <a:t>내에 </a:t>
            </a:r>
            <a:r>
              <a:rPr lang="en-US" altLang="ko-KR" dirty="0"/>
              <a:t>click </a:t>
            </a:r>
            <a:r>
              <a:rPr lang="ko-KR" altLang="en-US" dirty="0"/>
              <a:t>등 각종 이벤트 정의에 버그가 </a:t>
            </a:r>
            <a:r>
              <a:rPr lang="ko-KR" altLang="en-US" dirty="0" err="1"/>
              <a:t>없어야한다</a:t>
            </a:r>
            <a:r>
              <a:rPr lang="en-US" altLang="ko-KR" dirty="0"/>
              <a:t>.</a:t>
            </a:r>
          </a:p>
          <a:p>
            <a:pPr marL="285750" indent="-285750">
              <a:buFontTx/>
              <a:buChar char="-"/>
            </a:pPr>
            <a:r>
              <a:rPr lang="ko-KR" altLang="en-US" dirty="0"/>
              <a:t>그 내용 컴포넌트는 데이터 막대 영역 내에 안 벗어날 수도 있고 벗어날 수 도 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영역 밖으로 벗어나도 표시 내용물은 넘쳐서 잘 보이게 해준다</a:t>
            </a:r>
            <a:r>
              <a:rPr lang="en-US" altLang="ko-KR" dirty="0"/>
              <a:t>. </a:t>
            </a:r>
            <a:r>
              <a:rPr lang="ko-KR" altLang="en-US" dirty="0"/>
              <a:t>단</a:t>
            </a:r>
            <a:r>
              <a:rPr lang="en-US" altLang="ko-KR" dirty="0"/>
              <a:t>, chart </a:t>
            </a:r>
            <a:r>
              <a:rPr lang="ko-KR" altLang="en-US" dirty="0"/>
              <a:t>컴포넌트 밖으로 표시되면 안된다</a:t>
            </a:r>
            <a:r>
              <a:rPr lang="en-US" altLang="ko-KR" dirty="0"/>
              <a:t>.</a:t>
            </a:r>
          </a:p>
        </p:txBody>
      </p:sp>
      <p:pic>
        <p:nvPicPr>
          <p:cNvPr id="6" name="그림 5" descr="텍스트, 스크린샷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2C546D-6148-DDDD-75D5-23DF5D2D17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070" y="615960"/>
            <a:ext cx="11707859" cy="39820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6994528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838942AD-5D53-5680-0C88-C9E1C6B0DCBF}"/>
              </a:ext>
            </a:extLst>
          </p:cNvPr>
          <p:cNvSpPr/>
          <p:nvPr/>
        </p:nvSpPr>
        <p:spPr>
          <a:xfrm>
            <a:off x="175491" y="92364"/>
            <a:ext cx="4516582" cy="45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Body</a:t>
            </a:r>
            <a:r>
              <a:rPr lang="ko-KR" altLang="en-US" dirty="0"/>
              <a:t> 데이터 막대 </a:t>
            </a:r>
            <a:r>
              <a:rPr lang="en-US" altLang="ko-KR" dirty="0"/>
              <a:t>(</a:t>
            </a:r>
            <a:r>
              <a:rPr lang="ko-KR" altLang="en-US" dirty="0"/>
              <a:t>좌측 가림</a:t>
            </a:r>
            <a:r>
              <a:rPr lang="en-US" altLang="ko-KR" dirty="0"/>
              <a:t>)</a:t>
            </a:r>
            <a:endParaRPr lang="ko-KR" altLang="en-US" dirty="0"/>
          </a:p>
        </p:txBody>
      </p:sp>
      <p:pic>
        <p:nvPicPr>
          <p:cNvPr id="6" name="그림 5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F800A89-07E0-15E7-A368-4AE91D9B5E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5997" y="903243"/>
            <a:ext cx="3620005" cy="270547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BCE017E-F5A7-623A-9E07-B52DEBCCAB0A}"/>
              </a:ext>
            </a:extLst>
          </p:cNvPr>
          <p:cNvSpPr txBox="1"/>
          <p:nvPr/>
        </p:nvSpPr>
        <p:spPr>
          <a:xfrm>
            <a:off x="242069" y="3829136"/>
            <a:ext cx="11707859" cy="12003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/>
              <a:t>이전 슬라이드 </a:t>
            </a:r>
            <a:r>
              <a:rPr lang="ko-KR" altLang="en-US" dirty="0" err="1"/>
              <a:t>캡쳐본과</a:t>
            </a:r>
            <a:r>
              <a:rPr lang="ko-KR" altLang="en-US" dirty="0"/>
              <a:t> 동일한 데이터인데 </a:t>
            </a:r>
            <a:r>
              <a:rPr lang="en-US" altLang="ko-KR" dirty="0"/>
              <a:t>chart</a:t>
            </a:r>
            <a:r>
              <a:rPr lang="ko-KR" altLang="en-US" dirty="0"/>
              <a:t>를 우측으로 옮겨 좌측 데이터가 가려졌다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이렇게 </a:t>
            </a:r>
            <a:r>
              <a:rPr lang="en-US" altLang="ko-KR" dirty="0"/>
              <a:t>chart </a:t>
            </a:r>
            <a:r>
              <a:rPr lang="ko-KR" altLang="en-US" dirty="0"/>
              <a:t>컴포넌트 밖으로 내용물이 보이면 절대 안된다</a:t>
            </a:r>
            <a:r>
              <a:rPr lang="en-US" altLang="ko-KR" dirty="0"/>
              <a:t>.</a:t>
            </a:r>
          </a:p>
          <a:p>
            <a:pPr marL="285750" indent="-285750">
              <a:buFontTx/>
              <a:buChar char="-"/>
            </a:pPr>
            <a:r>
              <a:rPr lang="en-US" altLang="ko-KR" dirty="0"/>
              <a:t>“</a:t>
            </a:r>
            <a:r>
              <a:rPr lang="ko-KR" altLang="en-US" dirty="0"/>
              <a:t>분석</a:t>
            </a:r>
            <a:r>
              <a:rPr lang="en-US" altLang="ko-KR" dirty="0"/>
              <a:t>” </a:t>
            </a:r>
            <a:r>
              <a:rPr lang="ko-KR" altLang="en-US" dirty="0"/>
              <a:t>항목은 완전히 가려졌고 나머지는 막대 일부분이 가려진 모습이다</a:t>
            </a:r>
            <a:r>
              <a:rPr lang="en-US" altLang="ko-KR" dirty="0"/>
              <a:t>.</a:t>
            </a:r>
          </a:p>
          <a:p>
            <a:pPr marL="285750" indent="-285750">
              <a:buFontTx/>
              <a:buChar char="-"/>
            </a:pPr>
            <a:r>
              <a:rPr lang="ko-KR" altLang="en-US" dirty="0"/>
              <a:t>막대 일부분을 포함해서 가려지면 </a:t>
            </a:r>
            <a:r>
              <a:rPr lang="en-US" altLang="ko-KR" dirty="0"/>
              <a:t>“</a:t>
            </a:r>
            <a:r>
              <a:rPr lang="ko-KR" altLang="en-US" dirty="0"/>
              <a:t>←</a:t>
            </a:r>
            <a:r>
              <a:rPr lang="en-US" altLang="ko-KR" dirty="0"/>
              <a:t>” </a:t>
            </a:r>
            <a:r>
              <a:rPr lang="ko-KR" altLang="en-US" dirty="0"/>
              <a:t>오버레이 버튼이 표시된다</a:t>
            </a:r>
            <a:r>
              <a:rPr lang="en-US" altLang="ko-KR" dirty="0"/>
              <a:t>.</a:t>
            </a:r>
          </a:p>
        </p:txBody>
      </p:sp>
      <p:pic>
        <p:nvPicPr>
          <p:cNvPr id="9" name="그림 8" descr="텍스트, 스크린샷, 폰트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96BCA0B-6C6E-A9FE-7333-710A8A87B0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6497" y="5145761"/>
            <a:ext cx="3439005" cy="68589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4A404D38-03DF-FBCE-4EF9-3DF4298C77B7}"/>
              </a:ext>
            </a:extLst>
          </p:cNvPr>
          <p:cNvSpPr txBox="1"/>
          <p:nvPr/>
        </p:nvSpPr>
        <p:spPr>
          <a:xfrm>
            <a:off x="242068" y="5978511"/>
            <a:ext cx="11707859" cy="64633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/>
              <a:t>해당 </a:t>
            </a:r>
            <a:r>
              <a:rPr lang="en-US" altLang="ko-KR" dirty="0"/>
              <a:t>“</a:t>
            </a:r>
            <a:r>
              <a:rPr lang="ko-KR" altLang="en-US" dirty="0"/>
              <a:t>←</a:t>
            </a:r>
            <a:r>
              <a:rPr lang="en-US" altLang="ko-KR" dirty="0"/>
              <a:t>” </a:t>
            </a:r>
            <a:r>
              <a:rPr lang="ko-KR" altLang="en-US" dirty="0"/>
              <a:t>오버레이 버튼에 마우스 커서를 올려놓으면 오른쪽으로 기간이 </a:t>
            </a:r>
            <a:r>
              <a:rPr lang="en-US" altLang="ko-KR" dirty="0"/>
              <a:t>tooltip</a:t>
            </a:r>
            <a:r>
              <a:rPr lang="ko-KR" altLang="en-US" dirty="0"/>
              <a:t>으로 표시된다</a:t>
            </a:r>
            <a:r>
              <a:rPr lang="en-US" altLang="ko-KR" dirty="0"/>
              <a:t>.</a:t>
            </a:r>
          </a:p>
          <a:p>
            <a:pPr marL="285750" indent="-285750">
              <a:buFontTx/>
              <a:buChar char="-"/>
            </a:pPr>
            <a:r>
              <a:rPr lang="en-US" altLang="ko-KR" dirty="0"/>
              <a:t>“</a:t>
            </a:r>
            <a:r>
              <a:rPr lang="ko-KR" altLang="en-US" dirty="0"/>
              <a:t>←</a:t>
            </a:r>
            <a:r>
              <a:rPr lang="en-US" altLang="ko-KR" dirty="0"/>
              <a:t>” </a:t>
            </a:r>
            <a:r>
              <a:rPr lang="ko-KR" altLang="en-US" dirty="0"/>
              <a:t>오버레이 버튼을 선택하면 해당 막대영역 전체가 보여지는 정도로 좌측으로 이동한다</a:t>
            </a:r>
            <a:r>
              <a:rPr lang="en-US" altLang="ko-K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067760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100E72-202D-9718-A0B7-D936C85499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7F51A241-5E9B-107B-3EB0-5195F15FDF03}"/>
              </a:ext>
            </a:extLst>
          </p:cNvPr>
          <p:cNvSpPr/>
          <p:nvPr/>
        </p:nvSpPr>
        <p:spPr>
          <a:xfrm>
            <a:off x="175491" y="92364"/>
            <a:ext cx="4516582" cy="45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Body</a:t>
            </a:r>
            <a:r>
              <a:rPr lang="ko-KR" altLang="en-US" dirty="0"/>
              <a:t> 데이터 막대 </a:t>
            </a:r>
            <a:r>
              <a:rPr lang="en-US" altLang="ko-KR" dirty="0"/>
              <a:t>(</a:t>
            </a:r>
            <a:r>
              <a:rPr lang="ko-KR" altLang="en-US" dirty="0"/>
              <a:t>우측 가림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491F208-BC69-80C8-4FB8-054623945180}"/>
              </a:ext>
            </a:extLst>
          </p:cNvPr>
          <p:cNvSpPr txBox="1"/>
          <p:nvPr/>
        </p:nvSpPr>
        <p:spPr>
          <a:xfrm>
            <a:off x="242069" y="4405584"/>
            <a:ext cx="11707859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altLang="ko-KR" dirty="0"/>
              <a:t>Chart</a:t>
            </a:r>
            <a:r>
              <a:rPr lang="ko-KR" altLang="en-US" dirty="0"/>
              <a:t>를 좌측으로 이동해서 막대가 우측에 가려진 경우도 똑같이 동작한다 </a:t>
            </a:r>
            <a:r>
              <a:rPr lang="en-US" altLang="ko-KR" dirty="0"/>
              <a:t>(</a:t>
            </a:r>
            <a:r>
              <a:rPr lang="ko-KR" altLang="en-US" dirty="0"/>
              <a:t>좌</a:t>
            </a:r>
            <a:r>
              <a:rPr lang="en-US" altLang="ko-KR" dirty="0"/>
              <a:t>/</a:t>
            </a:r>
            <a:r>
              <a:rPr lang="ko-KR" altLang="en-US" dirty="0"/>
              <a:t>우만 다름</a:t>
            </a:r>
            <a:r>
              <a:rPr lang="en-US" altLang="ko-KR" dirty="0"/>
              <a:t>)</a:t>
            </a:r>
          </a:p>
        </p:txBody>
      </p:sp>
      <p:pic>
        <p:nvPicPr>
          <p:cNvPr id="3" name="그림 2" descr="텍스트, 소프트웨어, 컴퓨터 아이콘, 웹 페이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129E4B3-2C44-C5BF-FE4E-02D590257E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8901" y="877455"/>
            <a:ext cx="5954198" cy="338380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729770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0B0779-7B2C-B0B0-868E-44C21D27C7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12851D3-2864-B4BB-036F-8A64350F3F08}"/>
              </a:ext>
            </a:extLst>
          </p:cNvPr>
          <p:cNvSpPr/>
          <p:nvPr/>
        </p:nvSpPr>
        <p:spPr>
          <a:xfrm>
            <a:off x="175491" y="92364"/>
            <a:ext cx="4516582" cy="45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Body</a:t>
            </a:r>
            <a:r>
              <a:rPr lang="ko-KR" altLang="en-US" dirty="0"/>
              <a:t> 데이터 막대 콘텐츠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3C3FA1-B7AF-DF94-1B66-AFFA8B171B22}"/>
              </a:ext>
            </a:extLst>
          </p:cNvPr>
          <p:cNvSpPr txBox="1"/>
          <p:nvPr/>
        </p:nvSpPr>
        <p:spPr>
          <a:xfrm>
            <a:off x="242069" y="4405584"/>
            <a:ext cx="11707859" cy="92333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/>
              <a:t>다음은 </a:t>
            </a:r>
            <a:r>
              <a:rPr lang="en-US" altLang="ko-KR" dirty="0"/>
              <a:t>“Front-End </a:t>
            </a:r>
            <a:r>
              <a:rPr lang="ko-KR" altLang="en-US" dirty="0"/>
              <a:t>공통 개발</a:t>
            </a:r>
            <a:r>
              <a:rPr lang="en-US" altLang="ko-KR" dirty="0"/>
              <a:t>“ </a:t>
            </a:r>
            <a:r>
              <a:rPr lang="ko-KR" altLang="en-US" dirty="0"/>
              <a:t>막대에 마우스 커서 올려놓은 모습이다</a:t>
            </a:r>
            <a:r>
              <a:rPr lang="en-US" altLang="ko-KR" dirty="0"/>
              <a:t>.</a:t>
            </a:r>
          </a:p>
          <a:p>
            <a:pPr marL="285750" indent="-285750">
              <a:buFontTx/>
              <a:buChar char="-"/>
            </a:pPr>
            <a:r>
              <a:rPr lang="ko-KR" altLang="en-US" dirty="0"/>
              <a:t>해당 막대에 회색 음영 표시는 물론 </a:t>
            </a:r>
            <a:r>
              <a:rPr lang="en-US" altLang="ko-KR" dirty="0"/>
              <a:t>header </a:t>
            </a:r>
            <a:r>
              <a:rPr lang="ko-KR" altLang="en-US" dirty="0"/>
              <a:t>부분에 기간 표시 </a:t>
            </a:r>
            <a:r>
              <a:rPr lang="en-US" altLang="ko-KR" dirty="0"/>
              <a:t>overlay</a:t>
            </a:r>
            <a:r>
              <a:rPr lang="ko-KR" altLang="en-US" dirty="0"/>
              <a:t>가 길이에 맞춰 </a:t>
            </a:r>
            <a:r>
              <a:rPr lang="ko-KR" altLang="en-US" dirty="0" err="1"/>
              <a:t>표시되어야하며</a:t>
            </a:r>
            <a:br>
              <a:rPr lang="en-US" altLang="ko-KR" dirty="0"/>
            </a:br>
            <a:r>
              <a:rPr lang="ko-KR" altLang="en-US" dirty="0"/>
              <a:t>막대 영역 벗어난 콘텐츠 내용은 살짝 </a:t>
            </a:r>
            <a:r>
              <a:rPr lang="en-US" altLang="ko-KR" dirty="0"/>
              <a:t>opacity</a:t>
            </a:r>
            <a:r>
              <a:rPr lang="ko-KR" altLang="en-US" dirty="0"/>
              <a:t>를 준다</a:t>
            </a:r>
            <a:r>
              <a:rPr lang="en-US" altLang="ko-KR" dirty="0"/>
              <a:t>.</a:t>
            </a:r>
          </a:p>
        </p:txBody>
      </p:sp>
      <p:pic>
        <p:nvPicPr>
          <p:cNvPr id="8" name="그림 7" descr="텍스트, 번호, 폰트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A4C697E-7A34-4ED4-2E65-681C0EC7EB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7942" y="719416"/>
            <a:ext cx="6916115" cy="351521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0087648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64BB7E-AA4E-507E-5E7D-5F792C4DB5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5A75C26D-9390-FC06-D06B-25E2E243CC83}"/>
              </a:ext>
            </a:extLst>
          </p:cNvPr>
          <p:cNvSpPr/>
          <p:nvPr/>
        </p:nvSpPr>
        <p:spPr>
          <a:xfrm>
            <a:off x="175491" y="92364"/>
            <a:ext cx="4516582" cy="45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하단 컨트롤러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59B2F4BE-6869-1D37-A5ED-ACE7DF0393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71398"/>
            <a:ext cx="12192000" cy="36846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0C77788-BA46-E642-3C9C-F606AE13C4A9}"/>
              </a:ext>
            </a:extLst>
          </p:cNvPr>
          <p:cNvSpPr txBox="1"/>
          <p:nvPr/>
        </p:nvSpPr>
        <p:spPr>
          <a:xfrm>
            <a:off x="242069" y="1362794"/>
            <a:ext cx="11707859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/>
              <a:t>하단에 조금씩 </a:t>
            </a:r>
            <a:r>
              <a:rPr lang="en-US" altLang="ko-KR" dirty="0"/>
              <a:t>chart</a:t>
            </a:r>
            <a:r>
              <a:rPr lang="ko-KR" altLang="en-US" dirty="0"/>
              <a:t>가 이동하는 좌</a:t>
            </a:r>
            <a:r>
              <a:rPr lang="en-US" altLang="ko-KR" dirty="0"/>
              <a:t>, </a:t>
            </a:r>
            <a:r>
              <a:rPr lang="ko-KR" altLang="en-US" dirty="0"/>
              <a:t>우 클릭 버튼과</a:t>
            </a:r>
            <a:r>
              <a:rPr lang="en-US" altLang="ko-KR" dirty="0"/>
              <a:t>, </a:t>
            </a:r>
            <a:r>
              <a:rPr lang="ko-KR" altLang="en-US" dirty="0"/>
              <a:t>스크롤바가 표시된다</a:t>
            </a:r>
            <a:r>
              <a:rPr lang="en-US" altLang="ko-KR" dirty="0"/>
              <a:t>.</a:t>
            </a:r>
          </a:p>
        </p:txBody>
      </p:sp>
      <p:pic>
        <p:nvPicPr>
          <p:cNvPr id="6" name="그림 5" descr="텍스트, 스크린샷, 소프트웨어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16B5273-1AC5-44CA-B899-C6D5892F6F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527" y="1955060"/>
            <a:ext cx="5338618" cy="329943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그림 7" descr="텍스트, 소프트웨어, 번호, 컴퓨터 아이콘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03221CE-E179-869F-BAF8-BED74A505B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5998" y="1955060"/>
            <a:ext cx="5457256" cy="329943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7FB6A3C-79D8-744A-48FD-A2973FDD54F8}"/>
              </a:ext>
            </a:extLst>
          </p:cNvPr>
          <p:cNvSpPr txBox="1"/>
          <p:nvPr/>
        </p:nvSpPr>
        <p:spPr>
          <a:xfrm>
            <a:off x="242069" y="5495206"/>
            <a:ext cx="11707859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/>
              <a:t>스크롤 및 버튼으로 움직이면 </a:t>
            </a:r>
            <a:r>
              <a:rPr lang="en-US" altLang="ko-KR" dirty="0"/>
              <a:t>chart </a:t>
            </a:r>
            <a:r>
              <a:rPr lang="ko-KR" altLang="en-US" dirty="0"/>
              <a:t>영역은 물론 </a:t>
            </a:r>
            <a:r>
              <a:rPr lang="en-US" altLang="ko-KR" dirty="0"/>
              <a:t>header </a:t>
            </a:r>
            <a:r>
              <a:rPr lang="ko-KR" altLang="en-US" dirty="0"/>
              <a:t>데이터까지 함께 움직이며 깨지지 않는다</a:t>
            </a:r>
            <a:r>
              <a:rPr lang="en-US" altLang="ko-K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931792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A3325A-A23C-5A79-8675-7E241314D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B59E21B-DA0E-3C2B-861E-A41C59143080}"/>
              </a:ext>
            </a:extLst>
          </p:cNvPr>
          <p:cNvSpPr/>
          <p:nvPr/>
        </p:nvSpPr>
        <p:spPr>
          <a:xfrm>
            <a:off x="175491" y="92364"/>
            <a:ext cx="4516582" cy="45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+ New</a:t>
            </a:r>
            <a:r>
              <a:rPr lang="ko-KR" altLang="en-US" dirty="0"/>
              <a:t> </a:t>
            </a:r>
            <a:r>
              <a:rPr lang="en-US" altLang="ko-KR" dirty="0"/>
              <a:t>button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50FEEAA-F4F5-CC76-1911-18E5986B7517}"/>
              </a:ext>
            </a:extLst>
          </p:cNvPr>
          <p:cNvSpPr txBox="1"/>
          <p:nvPr/>
        </p:nvSpPr>
        <p:spPr>
          <a:xfrm>
            <a:off x="242069" y="5495206"/>
            <a:ext cx="11707859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/>
              <a:t>좌측 하단에 </a:t>
            </a:r>
            <a:r>
              <a:rPr lang="en-US" altLang="ko-KR" dirty="0"/>
              <a:t>“+ New” </a:t>
            </a:r>
            <a:r>
              <a:rPr lang="ko-KR" altLang="en-US" dirty="0"/>
              <a:t>버튼이 있는데 이 기능은 구현하지 않음으로 표시하지도 않는다</a:t>
            </a:r>
            <a:r>
              <a:rPr lang="en-US" altLang="ko-KR"/>
              <a:t>.</a:t>
            </a:r>
            <a:endParaRPr lang="en-US" altLang="ko-KR" dirty="0"/>
          </a:p>
        </p:txBody>
      </p:sp>
      <p:pic>
        <p:nvPicPr>
          <p:cNvPr id="7" name="그림 6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ED917F0-18EB-441C-56B5-68BA35CB83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5338" y="2176287"/>
            <a:ext cx="5001323" cy="250542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607223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128</TotalTime>
  <Words>892</Words>
  <Application>Microsoft Office PowerPoint</Application>
  <PresentationFormat>와이드스크린</PresentationFormat>
  <Paragraphs>65</Paragraphs>
  <Slides>15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18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영택 권</dc:creator>
  <cp:lastModifiedBy>영택 권</cp:lastModifiedBy>
  <cp:revision>18</cp:revision>
  <dcterms:created xsi:type="dcterms:W3CDTF">2026-01-31T04:32:48Z</dcterms:created>
  <dcterms:modified xsi:type="dcterms:W3CDTF">2026-01-31T07:18:26Z</dcterms:modified>
</cp:coreProperties>
</file>