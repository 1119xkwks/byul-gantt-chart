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72" r:id="rId13"/>
    <p:sldId id="273" r:id="rId14"/>
    <p:sldId id="267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36056E-89BF-4D41-9389-D839837DC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082B4FB-C1D5-8921-1A58-993CD0402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47AA6-5C22-5149-F005-DF7B44D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0214CC-388F-DB8D-61C7-134F3E334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CE5CFB-15A6-CF8E-8F83-7A4C9062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218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387FE9-C4AF-BE45-1AAB-724D5CAC8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D2AD63-346E-33DE-6C50-A7035F32F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8E0EC5-4D2F-BF5A-F334-1C16A3F03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5DD503-8FFC-6EA8-9BEE-B42664629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A74887-13DA-A65A-04AD-0CBB73009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399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46810-D37E-D985-6F98-58CAF7B18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335175-E2B4-4ABF-5B8B-560D26051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CF32A3-3D43-CDA6-9221-D134F83A9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825622-8707-A6CF-7B36-68529C241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11063F-1A67-C41C-D43E-4E3A61C3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1408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8E78E0-18C3-A16F-D382-88570FCA1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C9D80A-0C63-158B-B991-20F4E00D9B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7C25C2-0B43-828E-4F67-E4D80A744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56B16F-2B7F-7EF6-0665-04EB8238E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2F5A44-EAB7-088B-AA4C-7FDDF191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AA4C47-3C09-E2AF-2CC3-55921D14F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814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F76644-4CEC-9BA9-7628-06406AF98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1177D5-7205-A944-EDBA-36F408498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CC797A-C6F8-4969-76CC-94D249D43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681F59-DE04-ECC7-18B3-3018801432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D6B6D5-049F-B481-7DA0-4A14205681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0C42B05-1052-AACF-C298-B42E7F968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054CB0-02C6-DBCF-F6DF-76E72B413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6C343FC-DA03-B54C-7462-9B16A278A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698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C265DA-2CA4-961D-BCEC-1612CE8A1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178D5F0-8F02-C06B-C179-9C623CF40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BF13FC-931A-3BD5-4338-A9DAA863B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B076CD-3C77-1D97-57E6-DE0208BA4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483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8E7A810-83BE-0240-1DB0-10DD9D1EA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5D8524C-3D5F-30CB-C6FB-468A86896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C31C3E-DA5C-9B6F-4676-3DD9BA158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384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F4539-1BAF-F6B7-1D09-CAA53FC75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D81FDB-E9AC-1D35-1A28-E607C289C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05D955-3F1E-B187-DF20-CCF24DF16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02FCDE-C80D-9B1A-E0B5-EC959844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1E6570-4EC6-D339-4219-2735E543F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A50008-5F26-FF0D-9462-966853B60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421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8136D2-A6C3-FD3C-65AB-0E5D37502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F1B219-1ECF-CF65-8FEB-BB10C2FAA2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6A76DF-1124-7E7A-420B-91542A973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AD6D69-B691-684B-2725-C80A77166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F04EC6-51E8-7DA2-10AD-A91C06024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E86C25-CF8B-9FBB-34A0-B469328E7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514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7924BA-128D-D1C6-A906-E10CCFAE8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02D900-A2A6-33AE-718C-E1FF282D4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2AA25E-1EC8-4CCA-27E2-F2C4013C9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3211B5-2080-DFB5-C40A-4B04153C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1D566F-91BE-35D1-5B6E-90D2064D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313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C9B3DE-0E19-A3C6-50B6-706A8EC1EE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9081B3A-1ED1-9BED-6EF1-2B51B1571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B53A3E-EF86-DE68-C8AD-36F35D639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11FA8D-A51E-17D0-64C4-8F9581CBD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A3E1E3-E6DC-E3D7-DCE7-430FB6014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9966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4B68116-46C0-D145-07E8-93EE688F9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EFC768-E59A-C1B7-7DCE-F66D3013E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BCD5FF-7C2F-8F19-147B-E194C991F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C7CFD2-32F6-AA1D-7DBE-7E4797CBC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F1EC0D-B499-1B15-8F2C-7BF8CBB5F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842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소프트웨어, 컴퓨터 아이콘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C538F6-4F8C-3CBD-270D-8CC9420E8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94" y="989906"/>
            <a:ext cx="5486400" cy="26087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6AE963E-F2BC-0157-6A84-40CB3B56DC4C}"/>
              </a:ext>
            </a:extLst>
          </p:cNvPr>
          <p:cNvSpPr/>
          <p:nvPr/>
        </p:nvSpPr>
        <p:spPr>
          <a:xfrm>
            <a:off x="1440873" y="1431636"/>
            <a:ext cx="4202549" cy="128385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451A85-6832-5075-91F7-A396B5712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94" y="3861177"/>
            <a:ext cx="5486400" cy="25715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4B30FFD-8A22-03DD-BFDA-5646FAC25C96}"/>
              </a:ext>
            </a:extLst>
          </p:cNvPr>
          <p:cNvSpPr/>
          <p:nvPr/>
        </p:nvSpPr>
        <p:spPr>
          <a:xfrm>
            <a:off x="711205" y="4285673"/>
            <a:ext cx="4932217" cy="145934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 descr="텍스트, 소프트웨어, 컴퓨터 아이콘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BD40F2-C6A9-9DA5-368B-77FF8DEAC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273" y="989906"/>
            <a:ext cx="3755505" cy="26087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A6C1DA0D-36DE-EFB2-3156-30547C64700E}"/>
              </a:ext>
            </a:extLst>
          </p:cNvPr>
          <p:cNvSpPr/>
          <p:nvPr/>
        </p:nvSpPr>
        <p:spPr>
          <a:xfrm>
            <a:off x="7620001" y="1311563"/>
            <a:ext cx="2078182" cy="201352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57DA06-6EB8-EF7B-3D1B-80C695AC0F37}"/>
              </a:ext>
            </a:extLst>
          </p:cNvPr>
          <p:cNvSpPr txBox="1"/>
          <p:nvPr/>
        </p:nvSpPr>
        <p:spPr>
          <a:xfrm>
            <a:off x="6338273" y="3962400"/>
            <a:ext cx="4477509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카드 형식 컴포넌트로 사용할 수 있으며</a:t>
            </a:r>
            <a:endParaRPr lang="en-US" altLang="ko-KR" dirty="0"/>
          </a:p>
          <a:p>
            <a:r>
              <a:rPr lang="ko-KR" altLang="en-US" dirty="0"/>
              <a:t>어느 위치에 어느 사이즈 </a:t>
            </a:r>
            <a:r>
              <a:rPr lang="ko-KR" altLang="en-US" dirty="0" err="1"/>
              <a:t>던간에</a:t>
            </a:r>
            <a:r>
              <a:rPr lang="ko-KR" altLang="en-US" dirty="0"/>
              <a:t> </a:t>
            </a:r>
            <a:r>
              <a:rPr lang="en-US" altLang="ko-KR" dirty="0"/>
              <a:t>elements </a:t>
            </a:r>
            <a:r>
              <a:rPr lang="ko-KR" altLang="en-US" dirty="0"/>
              <a:t>및 레이아웃이 틀어지지 않게 개발한다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사용자가 창 사이즈를 중간에 변경해도 틀어지지 않게 즉각 반영한다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반드시 컴포넌트 영역 밖으로 </a:t>
            </a:r>
            <a:r>
              <a:rPr lang="ko-KR" altLang="en-US" dirty="0" err="1"/>
              <a:t>삐져</a:t>
            </a:r>
            <a:r>
              <a:rPr lang="ko-KR" altLang="en-US" dirty="0"/>
              <a:t> 나와 표시되는 부분은 없다</a:t>
            </a:r>
            <a:r>
              <a:rPr lang="en-US" altLang="ko-KR" dirty="0"/>
              <a:t>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1EE09E7-F2EB-CDCB-D9D2-282E2F2B5D95}"/>
              </a:ext>
            </a:extLst>
          </p:cNvPr>
          <p:cNvSpPr/>
          <p:nvPr/>
        </p:nvSpPr>
        <p:spPr>
          <a:xfrm>
            <a:off x="175491" y="92364"/>
            <a:ext cx="2207491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컴포넌트 </a:t>
            </a:r>
            <a:r>
              <a:rPr lang="ko-KR" altLang="en-US" dirty="0" err="1"/>
              <a:t>레아아웃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2850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EC707-3A19-1B04-4BA4-E3B41B75E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01D0D4E-CDC1-82B6-4C03-C25E45B6E428}"/>
              </a:ext>
            </a:extLst>
          </p:cNvPr>
          <p:cNvSpPr/>
          <p:nvPr/>
        </p:nvSpPr>
        <p:spPr>
          <a:xfrm>
            <a:off x="175491" y="92364"/>
            <a:ext cx="2207491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Header </a:t>
            </a:r>
            <a:r>
              <a:rPr lang="ko-KR" altLang="en-US" dirty="0"/>
              <a:t>날짜 옵션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00ECF1F-F3AF-B9FA-753A-3F636CAD4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8561"/>
            <a:ext cx="12192000" cy="5603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3367F2-8CE8-E9D5-FC86-E4551B769C97}"/>
              </a:ext>
            </a:extLst>
          </p:cNvPr>
          <p:cNvSpPr txBox="1"/>
          <p:nvPr/>
        </p:nvSpPr>
        <p:spPr>
          <a:xfrm>
            <a:off x="173713" y="2162409"/>
            <a:ext cx="11844573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위 이미지처럼 </a:t>
            </a:r>
            <a:r>
              <a:rPr lang="en-US" altLang="ko-KR" dirty="0"/>
              <a:t> </a:t>
            </a:r>
            <a:r>
              <a:rPr lang="ko-KR" altLang="en-US" dirty="0"/>
              <a:t>헤더가 두줄로 표현이 되며 윗줄에는 위에는 월</a:t>
            </a:r>
            <a:r>
              <a:rPr lang="en-US" altLang="ko-KR" dirty="0"/>
              <a:t>, </a:t>
            </a:r>
            <a:r>
              <a:rPr lang="ko-KR" altLang="en-US" dirty="0"/>
              <a:t>아래는 일자가 간략히 표현이 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각 일자 간에는 명확한 구분선은 없지만 일자 위치는 명확하다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날짜 </a:t>
            </a:r>
            <a:r>
              <a:rPr lang="ko-KR" altLang="en-US" dirty="0" err="1"/>
              <a:t>포멧은</a:t>
            </a:r>
            <a:r>
              <a:rPr lang="ko-KR" altLang="en-US" dirty="0"/>
              <a:t> 사용자가 </a:t>
            </a:r>
            <a:r>
              <a:rPr lang="en-US" altLang="ko-KR" dirty="0"/>
              <a:t>options </a:t>
            </a:r>
            <a:r>
              <a:rPr lang="ko-KR" altLang="en-US" dirty="0"/>
              <a:t>설정으로 지정할 수 </a:t>
            </a:r>
            <a:r>
              <a:rPr lang="ko-KR" altLang="en-US" dirty="0" err="1"/>
              <a:t>있어야한다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September October November </a:t>
            </a:r>
            <a:r>
              <a:rPr lang="ko-KR" altLang="en-US" dirty="0"/>
              <a:t>대신에 </a:t>
            </a:r>
            <a:r>
              <a:rPr lang="en-US" altLang="ko-KR" dirty="0"/>
              <a:t>9</a:t>
            </a:r>
            <a:r>
              <a:rPr lang="ko-KR" altLang="en-US" dirty="0"/>
              <a:t>월 </a:t>
            </a:r>
            <a:r>
              <a:rPr lang="en-US" altLang="ko-KR" dirty="0"/>
              <a:t>10</a:t>
            </a:r>
            <a:r>
              <a:rPr lang="ko-KR" altLang="en-US" dirty="0"/>
              <a:t>월 </a:t>
            </a:r>
            <a:r>
              <a:rPr lang="en-US" altLang="ko-KR" dirty="0"/>
              <a:t>11</a:t>
            </a:r>
            <a:r>
              <a:rPr lang="ko-KR" altLang="en-US" dirty="0"/>
              <a:t>월 등 표시할 수 </a:t>
            </a:r>
            <a:r>
              <a:rPr lang="ko-KR" altLang="en-US" dirty="0" err="1"/>
              <a:t>있어야한다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여긴 한글 전용 우선으로 만드는 </a:t>
            </a:r>
            <a:r>
              <a:rPr lang="ko-KR" altLang="en-US" dirty="0" err="1"/>
              <a:t>프로젝트니까</a:t>
            </a:r>
            <a:r>
              <a:rPr lang="ko-KR" altLang="en-US" dirty="0"/>
              <a:t> </a:t>
            </a:r>
            <a:r>
              <a:rPr lang="en-US" altLang="ko-KR" dirty="0"/>
              <a:t>‘9</a:t>
            </a:r>
            <a:r>
              <a:rPr lang="ko-KR" altLang="en-US" dirty="0"/>
              <a:t>월 </a:t>
            </a:r>
            <a:r>
              <a:rPr lang="en-US" altLang="ko-KR" dirty="0"/>
              <a:t>10</a:t>
            </a:r>
            <a:r>
              <a:rPr lang="ko-KR" altLang="en-US" dirty="0"/>
              <a:t>월 </a:t>
            </a:r>
            <a:r>
              <a:rPr lang="en-US" altLang="ko-KR" dirty="0"/>
              <a:t>11</a:t>
            </a:r>
            <a:r>
              <a:rPr lang="ko-KR" altLang="en-US" dirty="0"/>
              <a:t>월 </a:t>
            </a:r>
            <a:r>
              <a:rPr lang="en-US" altLang="ko-KR" dirty="0"/>
              <a:t>‘ </a:t>
            </a:r>
            <a:r>
              <a:rPr lang="ko-KR" altLang="en-US" dirty="0"/>
              <a:t>표시를 </a:t>
            </a:r>
            <a:r>
              <a:rPr lang="en-US" altLang="ko-KR" dirty="0"/>
              <a:t>default</a:t>
            </a:r>
            <a:r>
              <a:rPr lang="ko-KR" altLang="en-US" dirty="0"/>
              <a:t>로 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두번째 줄 일자 표시 옵션도 사용자 </a:t>
            </a:r>
            <a:r>
              <a:rPr lang="en-US" altLang="ko-KR" dirty="0"/>
              <a:t>option </a:t>
            </a:r>
            <a:r>
              <a:rPr lang="ko-KR" altLang="en-US" dirty="0"/>
              <a:t>지정이 </a:t>
            </a:r>
            <a:r>
              <a:rPr lang="ko-KR" altLang="en-US" dirty="0" err="1"/>
              <a:t>가능해야한다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지금처럼 </a:t>
            </a:r>
            <a:r>
              <a:rPr lang="en-US" altLang="ko-KR" dirty="0"/>
              <a:t>28 4 11 18 25 1 8 15 </a:t>
            </a:r>
            <a:r>
              <a:rPr lang="ko-KR" altLang="en-US" dirty="0"/>
              <a:t>등 숫자 형식으로 줄여서 표시되며 이것이 </a:t>
            </a:r>
            <a:r>
              <a:rPr lang="en-US" altLang="ko-KR" dirty="0"/>
              <a:t>default</a:t>
            </a:r>
            <a:r>
              <a:rPr lang="ko-KR" altLang="en-US" dirty="0"/>
              <a:t>로 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사용자 옵션으로 </a:t>
            </a:r>
            <a:r>
              <a:rPr lang="en-US" altLang="ko-KR" dirty="0"/>
              <a:t>1 2 3 4 5 6 </a:t>
            </a:r>
            <a:r>
              <a:rPr lang="ko-KR" altLang="en-US" dirty="0"/>
              <a:t>이렇게 일자별로 길게 다 </a:t>
            </a:r>
            <a:r>
              <a:rPr lang="ko-KR" altLang="en-US" dirty="0" err="1"/>
              <a:t>표시해야한다면</a:t>
            </a:r>
            <a:r>
              <a:rPr lang="ko-KR" altLang="en-US" dirty="0"/>
              <a:t> 다 표시할 수 </a:t>
            </a:r>
            <a:r>
              <a:rPr lang="ko-KR" altLang="en-US" dirty="0" err="1"/>
              <a:t>있어야한다</a:t>
            </a:r>
            <a:r>
              <a:rPr lang="en-US" altLang="ko-KR" dirty="0"/>
              <a:t>. (</a:t>
            </a:r>
            <a:r>
              <a:rPr lang="ko-KR" altLang="en-US" dirty="0"/>
              <a:t>레이아웃 내 그래프 </a:t>
            </a:r>
            <a:r>
              <a:rPr lang="ko-KR" altLang="en-US" dirty="0" err="1"/>
              <a:t>길어짐</a:t>
            </a:r>
            <a:r>
              <a:rPr lang="en-US" altLang="ko-KR" dirty="0"/>
              <a:t>) =&gt; </a:t>
            </a:r>
            <a:r>
              <a:rPr lang="ko-KR" altLang="en-US" dirty="0"/>
              <a:t>이는 우측 상단 </a:t>
            </a:r>
            <a:r>
              <a:rPr lang="en-US" altLang="ko-KR" dirty="0"/>
              <a:t>“year” </a:t>
            </a:r>
            <a:r>
              <a:rPr lang="ko-KR" altLang="en-US" dirty="0"/>
              <a:t>옵션으로 옵션은 나중에 슬라이드에 다시 소개</a:t>
            </a:r>
            <a:r>
              <a:rPr lang="en-US" altLang="ko-KR" dirty="0"/>
              <a:t> </a:t>
            </a:r>
            <a:r>
              <a:rPr lang="ko-KR" altLang="en-US" dirty="0"/>
              <a:t>함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캡쳐 당시 </a:t>
            </a:r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31</a:t>
            </a:r>
            <a:r>
              <a:rPr lang="ko-KR" altLang="en-US" dirty="0"/>
              <a:t>일 이라서 오늘 날짜에 빨간 마크 표시한다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684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8ABBB-5E8E-C84A-39F1-969C03E0A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92F8EDD-910F-F409-5029-9110C001868E}"/>
              </a:ext>
            </a:extLst>
          </p:cNvPr>
          <p:cNvSpPr/>
          <p:nvPr/>
        </p:nvSpPr>
        <p:spPr>
          <a:xfrm>
            <a:off x="175491" y="92364"/>
            <a:ext cx="3117039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Header </a:t>
            </a:r>
            <a:r>
              <a:rPr lang="ko-KR" altLang="en-US" dirty="0"/>
              <a:t>날짜 좌측 옵션</a:t>
            </a:r>
          </a:p>
        </p:txBody>
      </p:sp>
      <p:pic>
        <p:nvPicPr>
          <p:cNvPr id="7" name="그림 6" descr="텍스트, 폰트, 화이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5D6563-4EA0-A773-89A8-B6CBAFE74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13" y="762466"/>
            <a:ext cx="2876951" cy="6001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865552-AB83-1475-1533-86C78A4C91BD}"/>
              </a:ext>
            </a:extLst>
          </p:cNvPr>
          <p:cNvSpPr txBox="1"/>
          <p:nvPr/>
        </p:nvSpPr>
        <p:spPr>
          <a:xfrm>
            <a:off x="173713" y="1506105"/>
            <a:ext cx="11844573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헤더 윗줄 좌측에는 앞에 가려진 </a:t>
            </a:r>
            <a:r>
              <a:rPr lang="ko-KR" altLang="en-US" dirty="0" err="1"/>
              <a:t>년월이</a:t>
            </a:r>
            <a:r>
              <a:rPr lang="ko-KR" altLang="en-US" dirty="0"/>
              <a:t> </a:t>
            </a:r>
            <a:r>
              <a:rPr lang="en-US" altLang="ko-KR" dirty="0"/>
              <a:t>overlay </a:t>
            </a:r>
            <a:r>
              <a:rPr lang="ko-KR" altLang="en-US" dirty="0"/>
              <a:t>형식으로 띄우며 뒤에 있는 글자는 주변을 연하게 해서 가린다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이 </a:t>
            </a:r>
            <a:r>
              <a:rPr lang="ko-KR" altLang="en-US" dirty="0" err="1"/>
              <a:t>년월</a:t>
            </a:r>
            <a:r>
              <a:rPr lang="ko-KR" altLang="en-US" dirty="0"/>
              <a:t> 표시도 사용자 지정으로 </a:t>
            </a:r>
            <a:r>
              <a:rPr lang="ko-KR" altLang="en-US" dirty="0" err="1"/>
              <a:t>포멧을</a:t>
            </a:r>
            <a:r>
              <a:rPr lang="ko-KR" altLang="en-US" dirty="0"/>
              <a:t> 변경할 수 있으며</a:t>
            </a:r>
            <a:r>
              <a:rPr lang="en-US" altLang="ko-KR" dirty="0"/>
              <a:t> </a:t>
            </a:r>
            <a:r>
              <a:rPr lang="ko-KR" altLang="en-US" dirty="0"/>
              <a:t>한글을 우선으로 </a:t>
            </a:r>
            <a:r>
              <a:rPr lang="en-US" altLang="ko-KR" dirty="0"/>
              <a:t>“2025</a:t>
            </a:r>
            <a:r>
              <a:rPr lang="ko-KR" altLang="en-US" dirty="0"/>
              <a:t>년 </a:t>
            </a:r>
            <a:r>
              <a:rPr lang="en-US" altLang="ko-KR" dirty="0"/>
              <a:t>9</a:t>
            </a:r>
            <a:r>
              <a:rPr lang="ko-KR" altLang="en-US" dirty="0"/>
              <a:t>월</a:t>
            </a:r>
            <a:r>
              <a:rPr lang="en-US" altLang="ko-KR" dirty="0"/>
              <a:t>”, “2025</a:t>
            </a:r>
            <a:r>
              <a:rPr lang="ko-KR" altLang="en-US" dirty="0"/>
              <a:t>년 </a:t>
            </a:r>
            <a:r>
              <a:rPr lang="en-US" altLang="ko-KR" dirty="0"/>
              <a:t>8</a:t>
            </a:r>
            <a:r>
              <a:rPr lang="ko-KR" altLang="en-US" dirty="0"/>
              <a:t>월</a:t>
            </a:r>
            <a:r>
              <a:rPr lang="en-US" altLang="ko-KR" dirty="0"/>
              <a:t>” </a:t>
            </a:r>
            <a:r>
              <a:rPr lang="ko-KR" altLang="en-US" dirty="0" err="1"/>
              <a:t>포멧을</a:t>
            </a:r>
            <a:r>
              <a:rPr lang="ko-KR" altLang="en-US" dirty="0"/>
              <a:t> </a:t>
            </a:r>
            <a:r>
              <a:rPr lang="en-US" altLang="ko-KR" dirty="0"/>
              <a:t>default</a:t>
            </a:r>
            <a:r>
              <a:rPr lang="ko-KR" altLang="en-US" dirty="0"/>
              <a:t>로 한다</a:t>
            </a:r>
            <a:r>
              <a:rPr lang="en-US" altLang="ko-KR" dirty="0"/>
              <a:t>.</a:t>
            </a:r>
          </a:p>
        </p:txBody>
      </p:sp>
      <p:pic>
        <p:nvPicPr>
          <p:cNvPr id="10" name="그림 9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3F1E24-030E-3E4A-1AF0-F10E4BA75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2530" y="762466"/>
            <a:ext cx="3353268" cy="6192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7CFD18-07CD-81A3-F66A-C0FDB2835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13" y="2572915"/>
            <a:ext cx="2311734" cy="34007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그림 10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59D8BF-2B3C-E0B6-4C40-C05879708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9637" y="2590383"/>
            <a:ext cx="5608106" cy="3384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65D7AF-9325-4037-80E3-C3CCBA522585}"/>
              </a:ext>
            </a:extLst>
          </p:cNvPr>
          <p:cNvSpPr txBox="1"/>
          <p:nvPr/>
        </p:nvSpPr>
        <p:spPr>
          <a:xfrm>
            <a:off x="8421933" y="2590383"/>
            <a:ext cx="3596353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“&gt;&gt;”, “&lt;&lt;“ </a:t>
            </a:r>
            <a:r>
              <a:rPr lang="ko-KR" altLang="en-US" dirty="0" err="1"/>
              <a:t>토글</a:t>
            </a:r>
            <a:r>
              <a:rPr lang="ko-KR" altLang="en-US" dirty="0"/>
              <a:t> 아이콘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각 타임라인 막대가 그려지는</a:t>
            </a:r>
            <a:r>
              <a:rPr lang="en-US" altLang="ko-KR" dirty="0"/>
              <a:t> </a:t>
            </a:r>
            <a:r>
              <a:rPr lang="ko-KR" altLang="en-US" dirty="0"/>
              <a:t>목록이 표시된다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기본 열림 닫힘 옵션이 제공이 </a:t>
            </a:r>
            <a:r>
              <a:rPr lang="ko-KR" altLang="en-US" dirty="0" err="1"/>
              <a:t>되어야하고</a:t>
            </a:r>
            <a:r>
              <a:rPr lang="ko-KR" altLang="en-US" dirty="0"/>
              <a:t> 기본 닫힘을 </a:t>
            </a:r>
            <a:r>
              <a:rPr lang="en-US" altLang="ko-KR" dirty="0"/>
              <a:t>default</a:t>
            </a:r>
            <a:r>
              <a:rPr lang="ko-KR" altLang="en-US" dirty="0"/>
              <a:t>로 제공한다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열고 </a:t>
            </a:r>
            <a:r>
              <a:rPr lang="ko-KR" altLang="en-US" dirty="0" err="1"/>
              <a:t>닫을때도</a:t>
            </a:r>
            <a:r>
              <a:rPr lang="ko-KR" altLang="en-US" dirty="0"/>
              <a:t> </a:t>
            </a:r>
            <a:r>
              <a:rPr lang="en-US" altLang="ko-KR" dirty="0" err="1"/>
              <a:t>gantt</a:t>
            </a:r>
            <a:r>
              <a:rPr lang="en-US" altLang="ko-KR" dirty="0"/>
              <a:t> chart </a:t>
            </a:r>
            <a:r>
              <a:rPr lang="ko-KR" altLang="en-US" dirty="0"/>
              <a:t>레이아웃은 항상 틀어지거나 깨지지 </a:t>
            </a:r>
            <a:r>
              <a:rPr lang="ko-KR" altLang="en-US" dirty="0" err="1"/>
              <a:t>않아야한다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8233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D6A13-CE17-7F0F-13AF-86B94B5A0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53D17ED-566C-1C47-DE17-86C72DE35266}"/>
              </a:ext>
            </a:extLst>
          </p:cNvPr>
          <p:cNvSpPr/>
          <p:nvPr/>
        </p:nvSpPr>
        <p:spPr>
          <a:xfrm>
            <a:off x="175491" y="92364"/>
            <a:ext cx="3117039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Header </a:t>
            </a:r>
            <a:r>
              <a:rPr lang="ko-KR" altLang="en-US" dirty="0"/>
              <a:t>날짜 우측 옵션</a:t>
            </a:r>
          </a:p>
        </p:txBody>
      </p:sp>
      <p:pic>
        <p:nvPicPr>
          <p:cNvPr id="6" name="그림 5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8E591E-126D-224F-0086-1A345D979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904" y="1482055"/>
            <a:ext cx="2667372" cy="8573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3BF09D-C8C7-C76F-1621-DDC5DD34E6B7}"/>
              </a:ext>
            </a:extLst>
          </p:cNvPr>
          <p:cNvSpPr txBox="1"/>
          <p:nvPr/>
        </p:nvSpPr>
        <p:spPr>
          <a:xfrm>
            <a:off x="1734010" y="5352473"/>
            <a:ext cx="790810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‘year’(select box), ‘&lt;‘, ‘Today’, ‘&gt;’ 4</a:t>
            </a:r>
            <a:r>
              <a:rPr lang="ko-KR" altLang="en-US" dirty="0"/>
              <a:t>개 항목 오버레이이며</a:t>
            </a:r>
            <a:br>
              <a:rPr lang="en-US" altLang="ko-KR" dirty="0"/>
            </a:br>
            <a:r>
              <a:rPr lang="ko-KR" altLang="en-US" dirty="0"/>
              <a:t>역시 </a:t>
            </a:r>
            <a:r>
              <a:rPr lang="ko-KR" altLang="en-US" dirty="0" err="1"/>
              <a:t>뒷</a:t>
            </a:r>
            <a:r>
              <a:rPr lang="ko-KR" altLang="en-US" dirty="0"/>
              <a:t> 부분 글자도 주변 </a:t>
            </a:r>
            <a:r>
              <a:rPr lang="ko-KR" altLang="en-US" dirty="0" err="1"/>
              <a:t>연하게해서</a:t>
            </a:r>
            <a:r>
              <a:rPr lang="ko-KR" altLang="en-US" dirty="0"/>
              <a:t> 가려진다</a:t>
            </a:r>
            <a:r>
              <a:rPr lang="en-US" altLang="ko-KR" dirty="0"/>
              <a:t>.</a:t>
            </a:r>
          </a:p>
        </p:txBody>
      </p:sp>
      <p:pic>
        <p:nvPicPr>
          <p:cNvPr id="9" name="그림 8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657362-D50D-BD40-29DA-C8DBCEAC3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145" y="1554334"/>
            <a:ext cx="2876951" cy="29626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5616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93AF2-C78A-DA0C-9FF8-16F2FBC58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BA279E4-0C49-E92A-A914-15080D44745F}"/>
              </a:ext>
            </a:extLst>
          </p:cNvPr>
          <p:cNvSpPr/>
          <p:nvPr/>
        </p:nvSpPr>
        <p:spPr>
          <a:xfrm>
            <a:off x="175491" y="92364"/>
            <a:ext cx="4516582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Header </a:t>
            </a:r>
            <a:r>
              <a:rPr lang="ko-KR" altLang="en-US" dirty="0"/>
              <a:t>날짜 우측 옵션 </a:t>
            </a:r>
            <a:r>
              <a:rPr lang="en-US" altLang="ko-KR" dirty="0"/>
              <a:t>(chart </a:t>
            </a:r>
            <a:r>
              <a:rPr lang="ko-KR" altLang="en-US" dirty="0"/>
              <a:t>주기 옵션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2930DE-428A-DBEB-774F-8B6CE196ECA5}"/>
              </a:ext>
            </a:extLst>
          </p:cNvPr>
          <p:cNvSpPr txBox="1"/>
          <p:nvPr/>
        </p:nvSpPr>
        <p:spPr>
          <a:xfrm>
            <a:off x="173713" y="656743"/>
            <a:ext cx="11844573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앞서 소개한 캡쳐는 </a:t>
            </a:r>
            <a:r>
              <a:rPr lang="en-US" altLang="ko-KR" dirty="0"/>
              <a:t>year chart</a:t>
            </a:r>
            <a:r>
              <a:rPr lang="ko-KR" altLang="en-US" dirty="0"/>
              <a:t> 옵션이다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더 크게는 </a:t>
            </a:r>
            <a:r>
              <a:rPr lang="en-US" altLang="ko-KR" dirty="0"/>
              <a:t>5</a:t>
            </a:r>
            <a:r>
              <a:rPr lang="ko-KR" altLang="en-US" dirty="0"/>
              <a:t>년이 있는데 총 데이터가 </a:t>
            </a:r>
            <a:r>
              <a:rPr lang="en-US" altLang="ko-KR" dirty="0"/>
              <a:t>5</a:t>
            </a:r>
            <a:r>
              <a:rPr lang="ko-KR" altLang="en-US" dirty="0"/>
              <a:t>년이 넘지 않아서 년간</a:t>
            </a:r>
            <a:r>
              <a:rPr lang="en-US" altLang="ko-KR" dirty="0"/>
              <a:t>(year) </a:t>
            </a:r>
            <a:r>
              <a:rPr lang="ko-KR" altLang="en-US" dirty="0"/>
              <a:t>주기로 표시해준다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이 주기 지정 사용자 옵션이 있으면 그렇게 표시해주고 아니면 이렇게 알아서 보여준다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옵션별 </a:t>
            </a:r>
            <a:r>
              <a:rPr lang="en-US" altLang="ko-KR" dirty="0"/>
              <a:t>Header </a:t>
            </a:r>
            <a:r>
              <a:rPr lang="ko-KR" altLang="en-US" dirty="0"/>
              <a:t>표시 모습은 아래 캡쳐들로 대신한다</a:t>
            </a:r>
            <a:r>
              <a:rPr lang="en-US" altLang="ko-KR" dirty="0"/>
              <a:t>, </a:t>
            </a:r>
            <a:r>
              <a:rPr lang="ko-KR" altLang="en-US" dirty="0"/>
              <a:t>똑같이 만든다 </a:t>
            </a:r>
            <a:r>
              <a:rPr lang="en-US" altLang="ko-KR" dirty="0"/>
              <a:t>(</a:t>
            </a:r>
            <a:r>
              <a:rPr lang="ko-KR" altLang="en-US" dirty="0"/>
              <a:t>한글 옵션으로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아랫줄 </a:t>
            </a:r>
            <a:r>
              <a:rPr lang="en-US" altLang="ko-KR" dirty="0"/>
              <a:t>Header</a:t>
            </a:r>
            <a:r>
              <a:rPr lang="ko-KR" altLang="en-US" dirty="0"/>
              <a:t>가 시간 단위인 경우 오늘 날짜 마크를 표시하지 않음</a:t>
            </a:r>
            <a:r>
              <a:rPr lang="en-US" altLang="ko-KR" dirty="0"/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E669433-DFFA-5914-58A6-BB3DBF7F3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9442"/>
            <a:ext cx="12192000" cy="6087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896FAF9-6430-19BD-1E18-861ACC40C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61304"/>
            <a:ext cx="12192000" cy="4984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B026D96-0219-3FC5-25F7-1BEC3E3CA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92844"/>
            <a:ext cx="12192000" cy="5165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AD5DEA4-7405-2BBC-8304-C7161E5C0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242459"/>
            <a:ext cx="12192000" cy="5723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9C042A7-DD14-EB1F-44FA-973CCAB991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950236"/>
            <a:ext cx="12192000" cy="5236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8E2D8F4-6DED-DB21-B0C0-16E75643C3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609302"/>
            <a:ext cx="12192000" cy="5059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15EEC7B-4DB6-0ADB-5BF5-C981EF68D5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250644"/>
            <a:ext cx="12192000" cy="4929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7763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B0D68-B027-1F56-90DB-428E39DD4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7A9B7E9-2D12-A2C2-BAC7-355EFD3C8AFA}"/>
              </a:ext>
            </a:extLst>
          </p:cNvPr>
          <p:cNvSpPr/>
          <p:nvPr/>
        </p:nvSpPr>
        <p:spPr>
          <a:xfrm>
            <a:off x="175491" y="92364"/>
            <a:ext cx="4516582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Header </a:t>
            </a:r>
            <a:r>
              <a:rPr lang="ko-KR" altLang="en-US" dirty="0"/>
              <a:t>날짜 우측 옵션 </a:t>
            </a:r>
            <a:r>
              <a:rPr lang="en-US" altLang="ko-KR" dirty="0"/>
              <a:t>(Today </a:t>
            </a:r>
            <a:r>
              <a:rPr lang="ko-KR" altLang="en-US" dirty="0"/>
              <a:t>버튼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그림 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B614A3-74DF-B7F8-A4D6-145DC3D25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564" y="606039"/>
            <a:ext cx="6520872" cy="22496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BA3241-2459-EC44-6055-1B3821FD7C7B}"/>
              </a:ext>
            </a:extLst>
          </p:cNvPr>
          <p:cNvSpPr txBox="1"/>
          <p:nvPr/>
        </p:nvSpPr>
        <p:spPr>
          <a:xfrm>
            <a:off x="173713" y="2963236"/>
            <a:ext cx="1184457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하단 스크롤 및 버튼으로 </a:t>
            </a:r>
            <a:r>
              <a:rPr lang="en-US" altLang="ko-KR" dirty="0"/>
              <a:t>chart</a:t>
            </a:r>
            <a:r>
              <a:rPr lang="ko-KR" altLang="en-US" dirty="0"/>
              <a:t>를 이동한 모습</a:t>
            </a:r>
            <a:endParaRPr lang="en-US" altLang="ko-KR" dirty="0"/>
          </a:p>
        </p:txBody>
      </p:sp>
      <p:pic>
        <p:nvPicPr>
          <p:cNvPr id="7" name="그림 6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0FDE52-F124-1793-92DC-FAEA6AABE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564" y="3774753"/>
            <a:ext cx="6520872" cy="22513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287C5B-CD56-22D0-1CE8-1B8D955A7E5A}"/>
              </a:ext>
            </a:extLst>
          </p:cNvPr>
          <p:cNvSpPr txBox="1"/>
          <p:nvPr/>
        </p:nvSpPr>
        <p:spPr>
          <a:xfrm>
            <a:off x="173713" y="6154268"/>
            <a:ext cx="1184457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‘today’ </a:t>
            </a:r>
            <a:r>
              <a:rPr lang="ko-KR" altLang="en-US" dirty="0"/>
              <a:t>버튼을 누른 후 오늘 날짜를 중앙으로 배치된 모습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54558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27815-2705-DD7A-2A0E-BDB0DAAA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A7184C3-68F4-B4C9-C0AF-90EF77CA70E1}"/>
              </a:ext>
            </a:extLst>
          </p:cNvPr>
          <p:cNvSpPr/>
          <p:nvPr/>
        </p:nvSpPr>
        <p:spPr>
          <a:xfrm>
            <a:off x="175491" y="92364"/>
            <a:ext cx="4516582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Header </a:t>
            </a:r>
            <a:r>
              <a:rPr lang="ko-KR" altLang="en-US" dirty="0"/>
              <a:t>날짜 우측 옵션 </a:t>
            </a:r>
            <a:r>
              <a:rPr lang="en-US" altLang="ko-KR" dirty="0"/>
              <a:t>(‘&lt;‘, ‘&gt;’ </a:t>
            </a:r>
            <a:r>
              <a:rPr lang="ko-KR" altLang="en-US" dirty="0"/>
              <a:t>버튼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268FBF-BAE1-35CD-113D-13164EB29092}"/>
              </a:ext>
            </a:extLst>
          </p:cNvPr>
          <p:cNvSpPr txBox="1"/>
          <p:nvPr/>
        </p:nvSpPr>
        <p:spPr>
          <a:xfrm>
            <a:off x="173713" y="2963236"/>
            <a:ext cx="1184457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Today </a:t>
            </a:r>
            <a:r>
              <a:rPr lang="ko-KR" altLang="en-US" dirty="0"/>
              <a:t>눌러서 재배치 된 상태에서 </a:t>
            </a:r>
            <a:r>
              <a:rPr lang="en-US" altLang="ko-KR" dirty="0"/>
              <a:t>‘&lt;‘ </a:t>
            </a:r>
            <a:r>
              <a:rPr lang="ko-KR" altLang="en-US" dirty="0"/>
              <a:t>버튼을 좌측으로 눌러 차트 절반 페이지 이동한 모습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한번 더 누르면 또 우측으로 절반 페이지 이동</a:t>
            </a:r>
            <a:endParaRPr lang="en-US" altLang="ko-KR" dirty="0"/>
          </a:p>
        </p:txBody>
      </p:sp>
      <p:pic>
        <p:nvPicPr>
          <p:cNvPr id="6" name="그림 5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B6CB51-E342-872F-3F64-860CB09EC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564" y="629276"/>
            <a:ext cx="6520872" cy="22531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그림 9" descr="텍스트, 라인, 그래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FBD0BF-2F07-232A-A584-BF79B2D4C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564" y="3690379"/>
            <a:ext cx="6520872" cy="22204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4B59A4-5B84-382A-1706-B574E4C66D64}"/>
              </a:ext>
            </a:extLst>
          </p:cNvPr>
          <p:cNvSpPr txBox="1"/>
          <p:nvPr/>
        </p:nvSpPr>
        <p:spPr>
          <a:xfrm>
            <a:off x="173713" y="6024339"/>
            <a:ext cx="1184457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Today </a:t>
            </a:r>
            <a:r>
              <a:rPr lang="ko-KR" altLang="en-US" dirty="0"/>
              <a:t>눌러서 재배치 된 상태에서 </a:t>
            </a:r>
            <a:r>
              <a:rPr lang="en-US" altLang="ko-KR" dirty="0"/>
              <a:t>‘&gt;‘ </a:t>
            </a:r>
            <a:r>
              <a:rPr lang="ko-KR" altLang="en-US" dirty="0"/>
              <a:t>버튼을 우측으로 눌러 차트 절반 페이지 이동한 모습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한번 더 누르면 또 우측으로 절반 페이지 이동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03783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07C60-CFB7-0B4C-0C47-84ED5034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3570012-EED5-F05C-4A9E-4F30E2E9528B}"/>
              </a:ext>
            </a:extLst>
          </p:cNvPr>
          <p:cNvSpPr/>
          <p:nvPr/>
        </p:nvSpPr>
        <p:spPr>
          <a:xfrm>
            <a:off x="175491" y="92364"/>
            <a:ext cx="4516582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Header </a:t>
            </a:r>
            <a:r>
              <a:rPr lang="ko-KR" altLang="en-US" dirty="0"/>
              <a:t>막대 기간 표시 오버레이</a:t>
            </a:r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9949FA-9848-EF7D-DD1A-4975D013B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763" y="602757"/>
            <a:ext cx="4082472" cy="23061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33F1EA-3FE2-11E2-E90C-5B7C140D3771}"/>
              </a:ext>
            </a:extLst>
          </p:cNvPr>
          <p:cNvSpPr txBox="1"/>
          <p:nvPr/>
        </p:nvSpPr>
        <p:spPr>
          <a:xfrm>
            <a:off x="173713" y="2963236"/>
            <a:ext cx="11844573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위 캡쳐는 </a:t>
            </a:r>
            <a:r>
              <a:rPr lang="en-US" altLang="ko-KR" dirty="0"/>
              <a:t>“Back-End </a:t>
            </a:r>
            <a:r>
              <a:rPr lang="ko-KR" altLang="en-US" dirty="0"/>
              <a:t>환경 셋팅</a:t>
            </a:r>
            <a:r>
              <a:rPr lang="en-US" altLang="ko-KR" dirty="0"/>
              <a:t>“ </a:t>
            </a:r>
            <a:r>
              <a:rPr lang="ko-KR" altLang="en-US" dirty="0"/>
              <a:t>이라는 항목에 마우스 커서를 올린 모습이다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각 막대 항목마다 마우스 커서를 올리면 그 위에 헤더 부분에 일자 부분만 작게 가려서</a:t>
            </a:r>
            <a:br>
              <a:rPr lang="en-US" altLang="ko-KR" dirty="0"/>
            </a:br>
            <a:r>
              <a:rPr lang="ko-KR" altLang="en-US" dirty="0"/>
              <a:t>회색 음영으로 해당 기간이 표시된다 </a:t>
            </a:r>
            <a:r>
              <a:rPr lang="en-US" altLang="ko-KR" dirty="0"/>
              <a:t>“Jul 26     Sep 2“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물론 한글을 </a:t>
            </a:r>
            <a:r>
              <a:rPr lang="en-US" altLang="ko-KR" dirty="0"/>
              <a:t>default</a:t>
            </a:r>
            <a:r>
              <a:rPr lang="ko-KR" altLang="en-US" dirty="0"/>
              <a:t>로 </a:t>
            </a:r>
            <a:r>
              <a:rPr lang="en-US" altLang="ko-KR" dirty="0"/>
              <a:t>“7</a:t>
            </a:r>
            <a:r>
              <a:rPr lang="ko-KR" altLang="en-US" dirty="0"/>
              <a:t>월 </a:t>
            </a:r>
            <a:r>
              <a:rPr lang="en-US" altLang="ko-KR" dirty="0"/>
              <a:t>26</a:t>
            </a:r>
            <a:r>
              <a:rPr lang="ko-KR" altLang="en-US" dirty="0"/>
              <a:t>일    </a:t>
            </a:r>
            <a:r>
              <a:rPr lang="en-US" altLang="ko-KR" dirty="0"/>
              <a:t>8</a:t>
            </a:r>
            <a:r>
              <a:rPr lang="ko-KR" altLang="en-US" dirty="0"/>
              <a:t>월 </a:t>
            </a:r>
            <a:r>
              <a:rPr lang="en-US" altLang="ko-KR" dirty="0"/>
              <a:t>2</a:t>
            </a:r>
            <a:r>
              <a:rPr lang="ko-KR" altLang="en-US" dirty="0"/>
              <a:t>일</a:t>
            </a:r>
            <a:r>
              <a:rPr lang="en-US" altLang="ko-KR" dirty="0"/>
              <a:t>“ </a:t>
            </a:r>
            <a:r>
              <a:rPr lang="ko-KR" altLang="en-US" dirty="0"/>
              <a:t>로 표시해야 하며 사용자가 </a:t>
            </a:r>
            <a:r>
              <a:rPr lang="ko-KR" altLang="en-US" dirty="0" err="1"/>
              <a:t>포멧</a:t>
            </a:r>
            <a:r>
              <a:rPr lang="ko-KR" altLang="en-US" dirty="0"/>
              <a:t> 옵션을 지정할 수 있다</a:t>
            </a:r>
            <a:r>
              <a:rPr lang="en-US" altLang="ko-KR" dirty="0"/>
              <a:t>.</a:t>
            </a:r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904962-4ED1-FCB2-C1C8-55918D8D3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963" y="4217858"/>
            <a:ext cx="2660074" cy="1697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D19F6A-A665-9C37-4853-BFA3F2137985}"/>
              </a:ext>
            </a:extLst>
          </p:cNvPr>
          <p:cNvSpPr txBox="1"/>
          <p:nvPr/>
        </p:nvSpPr>
        <p:spPr>
          <a:xfrm>
            <a:off x="173713" y="5978172"/>
            <a:ext cx="11844573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위 캡쳐는 </a:t>
            </a:r>
            <a:r>
              <a:rPr lang="en-US" altLang="ko-KR" dirty="0"/>
              <a:t>5</a:t>
            </a:r>
            <a:r>
              <a:rPr lang="ko-KR" altLang="en-US" dirty="0"/>
              <a:t>년 </a:t>
            </a:r>
            <a:r>
              <a:rPr lang="en-US" altLang="ko-KR" dirty="0"/>
              <a:t>chart</a:t>
            </a:r>
            <a:r>
              <a:rPr lang="ko-KR" altLang="en-US" dirty="0"/>
              <a:t>로 표시해서 일부러 좁은 막대로 표시하는 모습이다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“</a:t>
            </a:r>
            <a:r>
              <a:rPr lang="ko-KR" altLang="en-US" dirty="0"/>
              <a:t>분석</a:t>
            </a:r>
            <a:r>
              <a:rPr lang="en-US" altLang="ko-KR" dirty="0"/>
              <a:t>“ </a:t>
            </a:r>
            <a:r>
              <a:rPr lang="ko-KR" altLang="en-US" dirty="0"/>
              <a:t>항목에 마우스 커서를 올린 모습이고</a:t>
            </a:r>
            <a:r>
              <a:rPr lang="en-US" altLang="ko-KR" dirty="0"/>
              <a:t>, </a:t>
            </a:r>
            <a:r>
              <a:rPr lang="ko-KR" altLang="en-US" dirty="0"/>
              <a:t>위 헤더 기간 </a:t>
            </a:r>
            <a:r>
              <a:rPr lang="ko-KR" altLang="en-US" dirty="0" err="1"/>
              <a:t>오버레이에</a:t>
            </a:r>
            <a:r>
              <a:rPr lang="ko-KR" altLang="en-US" dirty="0"/>
              <a:t> 막대가 짧아도 넓게 표시해준다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데이터 막대에 마우스 커서를 올리면 해당 막대도 같이 회색 음영으로 표시해준다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3740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58980-F726-89AB-C79A-FD4628431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8F6F8E4-9667-04EC-F2EA-7C38BEB57B12}"/>
              </a:ext>
            </a:extLst>
          </p:cNvPr>
          <p:cNvSpPr/>
          <p:nvPr/>
        </p:nvSpPr>
        <p:spPr>
          <a:xfrm>
            <a:off x="175491" y="92364"/>
            <a:ext cx="4516582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Body</a:t>
            </a:r>
            <a:r>
              <a:rPr lang="ko-KR" altLang="en-US" dirty="0"/>
              <a:t> 오늘 날짜 막대</a:t>
            </a:r>
          </a:p>
        </p:txBody>
      </p:sp>
      <p:pic>
        <p:nvPicPr>
          <p:cNvPr id="4" name="그림 3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C8D524-1AF7-9871-C255-9D81CD449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91" y="947391"/>
            <a:ext cx="5572903" cy="49632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DA4357-E3C8-E38B-61DA-23A8147FE406}"/>
              </a:ext>
            </a:extLst>
          </p:cNvPr>
          <p:cNvSpPr txBox="1"/>
          <p:nvPr/>
        </p:nvSpPr>
        <p:spPr>
          <a:xfrm>
            <a:off x="5957455" y="947391"/>
            <a:ext cx="6060831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Body </a:t>
            </a:r>
            <a:r>
              <a:rPr lang="ko-KR" altLang="en-US" dirty="0"/>
              <a:t>영역에서 오늘 날짜 빨간 구분 선이 </a:t>
            </a:r>
            <a:r>
              <a:rPr lang="ko-KR" altLang="en-US" dirty="0" err="1"/>
              <a:t>그어져야한다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Body </a:t>
            </a:r>
            <a:r>
              <a:rPr lang="ko-KR" altLang="en-US" dirty="0"/>
              <a:t>내에 데이터 표시 막대가 있으면 막대 뒤에 표시한다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각종 </a:t>
            </a:r>
            <a:r>
              <a:rPr lang="ko-KR" altLang="en-US" dirty="0" err="1"/>
              <a:t>토글</a:t>
            </a:r>
            <a:r>
              <a:rPr lang="ko-KR" altLang="en-US" dirty="0"/>
              <a:t> 및 사이즈 변경에도 위치가 깨지지 </a:t>
            </a:r>
            <a:r>
              <a:rPr lang="ko-KR" altLang="en-US" dirty="0" err="1"/>
              <a:t>말아야한다</a:t>
            </a:r>
            <a:r>
              <a:rPr lang="en-US" altLang="ko-KR" dirty="0"/>
              <a:t>. (</a:t>
            </a:r>
            <a:r>
              <a:rPr lang="ko-KR" altLang="en-US" dirty="0"/>
              <a:t>위치 표시 버그가 </a:t>
            </a:r>
            <a:r>
              <a:rPr lang="ko-KR" altLang="en-US" dirty="0" err="1"/>
              <a:t>없어야한다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8112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61327-7337-D032-8D86-F7731E44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5F5C6A1-EA63-58ED-92F7-A83388A6C365}"/>
              </a:ext>
            </a:extLst>
          </p:cNvPr>
          <p:cNvSpPr/>
          <p:nvPr/>
        </p:nvSpPr>
        <p:spPr>
          <a:xfrm>
            <a:off x="175491" y="92364"/>
            <a:ext cx="4516582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Body</a:t>
            </a:r>
            <a:r>
              <a:rPr lang="ko-KR" altLang="en-US" dirty="0"/>
              <a:t> 데이터 막대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9C2A96-69E0-053B-18F6-7BA73CB5FD78}"/>
              </a:ext>
            </a:extLst>
          </p:cNvPr>
          <p:cNvSpPr txBox="1"/>
          <p:nvPr/>
        </p:nvSpPr>
        <p:spPr>
          <a:xfrm>
            <a:off x="245775" y="4863609"/>
            <a:ext cx="11707859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데이터 막대 길이는 항상 그 데이터의 날짜</a:t>
            </a:r>
            <a:r>
              <a:rPr lang="en-US" altLang="ko-KR" dirty="0"/>
              <a:t>/</a:t>
            </a:r>
            <a:r>
              <a:rPr lang="ko-KR" altLang="en-US" dirty="0"/>
              <a:t>시간 길이와 맞춘다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막대 내에 표시하는 컴포넌트 및 글자들은 </a:t>
            </a:r>
            <a:r>
              <a:rPr lang="en-US" altLang="ko-KR" dirty="0"/>
              <a:t>React </a:t>
            </a:r>
            <a:r>
              <a:rPr lang="ko-KR" altLang="en-US" dirty="0"/>
              <a:t>컴포넌트 로 사용자 정의할 수 있게 </a:t>
            </a:r>
            <a:r>
              <a:rPr lang="en-US" altLang="ko-KR" dirty="0"/>
              <a:t>render</a:t>
            </a:r>
            <a:r>
              <a:rPr lang="ko-KR" altLang="en-US" dirty="0"/>
              <a:t>할 옵션이 제공 </a:t>
            </a:r>
            <a:r>
              <a:rPr lang="ko-KR" altLang="en-US" dirty="0" err="1"/>
              <a:t>되어야하며</a:t>
            </a:r>
            <a:r>
              <a:rPr lang="en-US" altLang="ko-KR" dirty="0"/>
              <a:t>,</a:t>
            </a:r>
            <a:r>
              <a:rPr lang="ko-KR" altLang="en-US" dirty="0"/>
              <a:t> 기본은 데이터 이름만 표시한다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사용자 정의 </a:t>
            </a:r>
            <a:r>
              <a:rPr lang="en-US" altLang="ko-KR" dirty="0"/>
              <a:t>rendering </a:t>
            </a:r>
            <a:r>
              <a:rPr lang="ko-KR" altLang="en-US" dirty="0"/>
              <a:t>내에 </a:t>
            </a:r>
            <a:r>
              <a:rPr lang="en-US" altLang="ko-KR" dirty="0"/>
              <a:t>click </a:t>
            </a:r>
            <a:r>
              <a:rPr lang="ko-KR" altLang="en-US" dirty="0"/>
              <a:t>등 각종 이벤트 정의에 버그가 </a:t>
            </a:r>
            <a:r>
              <a:rPr lang="ko-KR" altLang="en-US" dirty="0" err="1"/>
              <a:t>없어야한다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그 내용 컴포넌트는 데이터 막대 영역 내에 안 벗어날 수도 있고 벗어날 수 도 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영역 밖으로 벗어나도 표시 내용물은 넘쳐서 잘 보이게 해준다</a:t>
            </a:r>
            <a:r>
              <a:rPr lang="en-US" altLang="ko-KR" dirty="0"/>
              <a:t>. </a:t>
            </a:r>
            <a:r>
              <a:rPr lang="ko-KR" altLang="en-US" dirty="0"/>
              <a:t>단</a:t>
            </a:r>
            <a:r>
              <a:rPr lang="en-US" altLang="ko-KR" dirty="0"/>
              <a:t>, chart </a:t>
            </a:r>
            <a:r>
              <a:rPr lang="ko-KR" altLang="en-US" dirty="0"/>
              <a:t>컴포넌트 밖으로 표시되면 안된다</a:t>
            </a:r>
            <a:r>
              <a:rPr lang="en-US" altLang="ko-KR" dirty="0"/>
              <a:t>.</a:t>
            </a:r>
          </a:p>
        </p:txBody>
      </p:sp>
      <p:pic>
        <p:nvPicPr>
          <p:cNvPr id="6" name="그림 5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2C546D-6148-DDDD-75D5-23DF5D2D1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70" y="615960"/>
            <a:ext cx="11707859" cy="39820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9452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38942AD-5D53-5680-0C88-C9E1C6B0DCBF}"/>
              </a:ext>
            </a:extLst>
          </p:cNvPr>
          <p:cNvSpPr/>
          <p:nvPr/>
        </p:nvSpPr>
        <p:spPr>
          <a:xfrm>
            <a:off x="175491" y="92364"/>
            <a:ext cx="4516582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Body</a:t>
            </a:r>
            <a:r>
              <a:rPr lang="ko-KR" altLang="en-US" dirty="0"/>
              <a:t> 데이터 막대 </a:t>
            </a:r>
            <a:r>
              <a:rPr lang="en-US" altLang="ko-KR" dirty="0"/>
              <a:t>(</a:t>
            </a:r>
            <a:r>
              <a:rPr lang="ko-KR" altLang="en-US" dirty="0"/>
              <a:t>좌측 가림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800A89-07E0-15E7-A368-4AE91D9B5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997" y="903243"/>
            <a:ext cx="3620005" cy="27054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CE017E-F5A7-623A-9E07-B52DEBCCAB0A}"/>
              </a:ext>
            </a:extLst>
          </p:cNvPr>
          <p:cNvSpPr txBox="1"/>
          <p:nvPr/>
        </p:nvSpPr>
        <p:spPr>
          <a:xfrm>
            <a:off x="242069" y="3829136"/>
            <a:ext cx="11707859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이전 슬라이드 </a:t>
            </a:r>
            <a:r>
              <a:rPr lang="ko-KR" altLang="en-US" dirty="0" err="1"/>
              <a:t>캡쳐본과</a:t>
            </a:r>
            <a:r>
              <a:rPr lang="ko-KR" altLang="en-US" dirty="0"/>
              <a:t> 동일한 데이터인데 </a:t>
            </a:r>
            <a:r>
              <a:rPr lang="en-US" altLang="ko-KR" dirty="0"/>
              <a:t>chart</a:t>
            </a:r>
            <a:r>
              <a:rPr lang="ko-KR" altLang="en-US" dirty="0"/>
              <a:t>를 우측으로 옮겨 좌측 데이터가 가려졌다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이렇게 </a:t>
            </a:r>
            <a:r>
              <a:rPr lang="en-US" altLang="ko-KR" dirty="0"/>
              <a:t>chart </a:t>
            </a:r>
            <a:r>
              <a:rPr lang="ko-KR" altLang="en-US" dirty="0"/>
              <a:t>컴포넌트 밖으로 내용물이 보이면 절대 안된다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“</a:t>
            </a:r>
            <a:r>
              <a:rPr lang="ko-KR" altLang="en-US" dirty="0"/>
              <a:t>분석</a:t>
            </a:r>
            <a:r>
              <a:rPr lang="en-US" altLang="ko-KR" dirty="0"/>
              <a:t>” </a:t>
            </a:r>
            <a:r>
              <a:rPr lang="ko-KR" altLang="en-US" dirty="0"/>
              <a:t>항목은 완전히 가려졌고 나머지는 막대 일부분이 가려진 모습이다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막대 일부분을 포함해서 가려지면 </a:t>
            </a:r>
            <a:r>
              <a:rPr lang="en-US" altLang="ko-KR" dirty="0"/>
              <a:t>“</a:t>
            </a:r>
            <a:r>
              <a:rPr lang="ko-KR" altLang="en-US" dirty="0"/>
              <a:t>←</a:t>
            </a:r>
            <a:r>
              <a:rPr lang="en-US" altLang="ko-KR" dirty="0"/>
              <a:t>” </a:t>
            </a:r>
            <a:r>
              <a:rPr lang="ko-KR" altLang="en-US" dirty="0"/>
              <a:t>오버레이 버튼이 표시된다</a:t>
            </a:r>
            <a:r>
              <a:rPr lang="en-US" altLang="ko-KR" dirty="0"/>
              <a:t>.</a:t>
            </a:r>
          </a:p>
        </p:txBody>
      </p:sp>
      <p:pic>
        <p:nvPicPr>
          <p:cNvPr id="9" name="그림 8" descr="텍스트, 스크린샷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6BCA0B-6C6E-A9FE-7333-710A8A87B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497" y="5145761"/>
            <a:ext cx="3439005" cy="685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404D38-03DF-FBCE-4EF9-3DF4298C77B7}"/>
              </a:ext>
            </a:extLst>
          </p:cNvPr>
          <p:cNvSpPr txBox="1"/>
          <p:nvPr/>
        </p:nvSpPr>
        <p:spPr>
          <a:xfrm>
            <a:off x="242068" y="5978511"/>
            <a:ext cx="1170785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해당 </a:t>
            </a:r>
            <a:r>
              <a:rPr lang="en-US" altLang="ko-KR" dirty="0"/>
              <a:t>“</a:t>
            </a:r>
            <a:r>
              <a:rPr lang="ko-KR" altLang="en-US" dirty="0"/>
              <a:t>←</a:t>
            </a:r>
            <a:r>
              <a:rPr lang="en-US" altLang="ko-KR" dirty="0"/>
              <a:t>” </a:t>
            </a:r>
            <a:r>
              <a:rPr lang="ko-KR" altLang="en-US" dirty="0"/>
              <a:t>오버레이 버튼에 마우스 커서를 올려놓으면 오른쪽으로 기간이 </a:t>
            </a:r>
            <a:r>
              <a:rPr lang="en-US" altLang="ko-KR" dirty="0"/>
              <a:t>tooltip</a:t>
            </a:r>
            <a:r>
              <a:rPr lang="ko-KR" altLang="en-US" dirty="0"/>
              <a:t>으로 표시된다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“</a:t>
            </a:r>
            <a:r>
              <a:rPr lang="ko-KR" altLang="en-US" dirty="0"/>
              <a:t>←</a:t>
            </a:r>
            <a:r>
              <a:rPr lang="en-US" altLang="ko-KR" dirty="0"/>
              <a:t>” </a:t>
            </a:r>
            <a:r>
              <a:rPr lang="ko-KR" altLang="en-US" dirty="0"/>
              <a:t>오버레이 버튼을 선택하면 해당 막대영역 전체가 보여지는 정도로 좌측으로 이동한다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6776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00E72-202D-9718-A0B7-D936C8549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F51A241-5E9B-107B-3EB0-5195F15FDF03}"/>
              </a:ext>
            </a:extLst>
          </p:cNvPr>
          <p:cNvSpPr/>
          <p:nvPr/>
        </p:nvSpPr>
        <p:spPr>
          <a:xfrm>
            <a:off x="175491" y="92364"/>
            <a:ext cx="4516582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Body</a:t>
            </a:r>
            <a:r>
              <a:rPr lang="ko-KR" altLang="en-US" dirty="0"/>
              <a:t> 데이터 막대 </a:t>
            </a:r>
            <a:r>
              <a:rPr lang="en-US" altLang="ko-KR" dirty="0"/>
              <a:t>(</a:t>
            </a:r>
            <a:r>
              <a:rPr lang="ko-KR" altLang="en-US" dirty="0"/>
              <a:t>우측 가림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91F208-BC69-80C8-4FB8-054623945180}"/>
              </a:ext>
            </a:extLst>
          </p:cNvPr>
          <p:cNvSpPr txBox="1"/>
          <p:nvPr/>
        </p:nvSpPr>
        <p:spPr>
          <a:xfrm>
            <a:off x="242069" y="4405584"/>
            <a:ext cx="1170785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Chart</a:t>
            </a:r>
            <a:r>
              <a:rPr lang="ko-KR" altLang="en-US" dirty="0"/>
              <a:t>를 좌측으로 이동해서 막대가 우측에 가려진 경우도 똑같이 동작한다 </a:t>
            </a:r>
            <a:r>
              <a:rPr lang="en-US" altLang="ko-KR" dirty="0"/>
              <a:t>(</a:t>
            </a:r>
            <a:r>
              <a:rPr lang="ko-KR" altLang="en-US" dirty="0"/>
              <a:t>좌</a:t>
            </a:r>
            <a:r>
              <a:rPr lang="en-US" altLang="ko-KR" dirty="0"/>
              <a:t>/</a:t>
            </a:r>
            <a:r>
              <a:rPr lang="ko-KR" altLang="en-US" dirty="0"/>
              <a:t>우만 다름</a:t>
            </a:r>
            <a:r>
              <a:rPr lang="en-US" altLang="ko-KR" dirty="0"/>
              <a:t>)</a:t>
            </a:r>
          </a:p>
        </p:txBody>
      </p:sp>
      <p:pic>
        <p:nvPicPr>
          <p:cNvPr id="3" name="그림 2" descr="텍스트, 소프트웨어, 컴퓨터 아이콘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29E4B3-2C44-C5BF-FE4E-02D590257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901" y="877455"/>
            <a:ext cx="5954198" cy="33838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2977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B0779-7B2C-B0B0-868E-44C21D27C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12851D3-2864-B4BB-036F-8A64350F3F08}"/>
              </a:ext>
            </a:extLst>
          </p:cNvPr>
          <p:cNvSpPr/>
          <p:nvPr/>
        </p:nvSpPr>
        <p:spPr>
          <a:xfrm>
            <a:off x="175491" y="92364"/>
            <a:ext cx="4516582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Body</a:t>
            </a:r>
            <a:r>
              <a:rPr lang="ko-KR" altLang="en-US" dirty="0"/>
              <a:t> 데이터 막대 콘텐츠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C3FA1-B7AF-DF94-1B66-AFFA8B171B22}"/>
              </a:ext>
            </a:extLst>
          </p:cNvPr>
          <p:cNvSpPr txBox="1"/>
          <p:nvPr/>
        </p:nvSpPr>
        <p:spPr>
          <a:xfrm>
            <a:off x="242069" y="4405584"/>
            <a:ext cx="11707859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다음은 </a:t>
            </a:r>
            <a:r>
              <a:rPr lang="en-US" altLang="ko-KR" dirty="0"/>
              <a:t>“Front-End </a:t>
            </a:r>
            <a:r>
              <a:rPr lang="ko-KR" altLang="en-US" dirty="0"/>
              <a:t>공통 개발</a:t>
            </a:r>
            <a:r>
              <a:rPr lang="en-US" altLang="ko-KR" dirty="0"/>
              <a:t>“ </a:t>
            </a:r>
            <a:r>
              <a:rPr lang="ko-KR" altLang="en-US" dirty="0"/>
              <a:t>막대에 마우스 커서 올려놓은 모습이다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해당 막대에 회색 음영 표시는 물론 </a:t>
            </a:r>
            <a:r>
              <a:rPr lang="en-US" altLang="ko-KR" dirty="0"/>
              <a:t>header </a:t>
            </a:r>
            <a:r>
              <a:rPr lang="ko-KR" altLang="en-US" dirty="0"/>
              <a:t>부분에 기간 표시 </a:t>
            </a:r>
            <a:r>
              <a:rPr lang="en-US" altLang="ko-KR" dirty="0"/>
              <a:t>overlay</a:t>
            </a:r>
            <a:r>
              <a:rPr lang="ko-KR" altLang="en-US" dirty="0"/>
              <a:t>가 길이에 맞춰 </a:t>
            </a:r>
            <a:r>
              <a:rPr lang="ko-KR" altLang="en-US" dirty="0" err="1"/>
              <a:t>표시되어야하며</a:t>
            </a:r>
            <a:br>
              <a:rPr lang="en-US" altLang="ko-KR" dirty="0"/>
            </a:br>
            <a:r>
              <a:rPr lang="ko-KR" altLang="en-US" dirty="0"/>
              <a:t>막대 영역 벗어난 콘텐츠 내용은 살짝 </a:t>
            </a:r>
            <a:r>
              <a:rPr lang="en-US" altLang="ko-KR" dirty="0"/>
              <a:t>opacity</a:t>
            </a:r>
            <a:r>
              <a:rPr lang="ko-KR" altLang="en-US" dirty="0"/>
              <a:t>를 준다</a:t>
            </a:r>
            <a:r>
              <a:rPr lang="en-US" altLang="ko-KR" dirty="0"/>
              <a:t>.</a:t>
            </a:r>
          </a:p>
        </p:txBody>
      </p:sp>
      <p:pic>
        <p:nvPicPr>
          <p:cNvPr id="8" name="그림 7" descr="텍스트, 번호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4C697E-7A34-4ED4-2E65-681C0EC7E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942" y="719416"/>
            <a:ext cx="6916115" cy="35152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8764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4BB7E-AA4E-507E-5E7D-5F792C4DB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A75C26D-9390-FC06-D06B-25E2E243CC83}"/>
              </a:ext>
            </a:extLst>
          </p:cNvPr>
          <p:cNvSpPr/>
          <p:nvPr/>
        </p:nvSpPr>
        <p:spPr>
          <a:xfrm>
            <a:off x="175491" y="92364"/>
            <a:ext cx="4516582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하단 컨트롤러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9B2F4BE-6869-1D37-A5ED-ACE7DF039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2416"/>
            <a:ext cx="12192000" cy="3684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C77788-BA46-E642-3C9C-F606AE13C4A9}"/>
              </a:ext>
            </a:extLst>
          </p:cNvPr>
          <p:cNvSpPr txBox="1"/>
          <p:nvPr/>
        </p:nvSpPr>
        <p:spPr>
          <a:xfrm>
            <a:off x="242069" y="4405584"/>
            <a:ext cx="1170785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하단에 조금씩 </a:t>
            </a:r>
            <a:r>
              <a:rPr lang="en-US" altLang="ko-KR" dirty="0"/>
              <a:t>chart</a:t>
            </a:r>
            <a:r>
              <a:rPr lang="ko-KR" altLang="en-US" dirty="0"/>
              <a:t>가 이동하는 좌</a:t>
            </a:r>
            <a:r>
              <a:rPr lang="en-US" altLang="ko-KR" dirty="0"/>
              <a:t>, </a:t>
            </a:r>
            <a:r>
              <a:rPr lang="ko-KR" altLang="en-US" dirty="0"/>
              <a:t>우 클릭 버튼과</a:t>
            </a:r>
            <a:r>
              <a:rPr lang="en-US" altLang="ko-KR" dirty="0"/>
              <a:t>, </a:t>
            </a:r>
            <a:r>
              <a:rPr lang="ko-KR" altLang="en-US" dirty="0"/>
              <a:t>스크롤바가 표시된다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3179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861</Words>
  <Application>Microsoft Office PowerPoint</Application>
  <PresentationFormat>와이드스크린</PresentationFormat>
  <Paragraphs>62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영택 권</dc:creator>
  <cp:lastModifiedBy>영택 권</cp:lastModifiedBy>
  <cp:revision>17</cp:revision>
  <dcterms:created xsi:type="dcterms:W3CDTF">2026-01-31T04:32:48Z</dcterms:created>
  <dcterms:modified xsi:type="dcterms:W3CDTF">2026-01-31T06:24:50Z</dcterms:modified>
</cp:coreProperties>
</file>